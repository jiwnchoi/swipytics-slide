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85" r:id="rId6"/>
    <p:sldId id="261" r:id="rId7"/>
    <p:sldId id="260" r:id="rId8"/>
    <p:sldId id="264" r:id="rId9"/>
    <p:sldId id="262" r:id="rId10"/>
    <p:sldId id="286" r:id="rId11"/>
    <p:sldId id="272" r:id="rId12"/>
    <p:sldId id="273" r:id="rId13"/>
    <p:sldId id="274" r:id="rId14"/>
    <p:sldId id="291" r:id="rId15"/>
    <p:sldId id="289" r:id="rId16"/>
    <p:sldId id="283" r:id="rId17"/>
    <p:sldId id="290" r:id="rId18"/>
    <p:sldId id="279" r:id="rId19"/>
    <p:sldId id="280" r:id="rId20"/>
    <p:sldId id="281" r:id="rId21"/>
    <p:sldId id="282" r:id="rId22"/>
    <p:sldId id="284" r:id="rId23"/>
    <p:sldId id="267" r:id="rId24"/>
    <p:sldId id="271" r:id="rId25"/>
    <p:sldId id="266" r:id="rId26"/>
    <p:sldId id="26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F0E"/>
    <a:srgbClr val="1E76B4"/>
    <a:srgbClr val="2CA02C"/>
    <a:srgbClr val="004B7D"/>
    <a:srgbClr val="7F7F7F"/>
    <a:srgbClr val="A57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04"/>
    <p:restoredTop sz="77303"/>
  </p:normalViewPr>
  <p:slideViewPr>
    <p:cSldViewPr snapToGrid="0">
      <p:cViewPr varScale="1">
        <p:scale>
          <a:sx n="65" d="100"/>
          <a:sy n="65" d="100"/>
        </p:scale>
        <p:origin x="216" y="12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87" d="100"/>
          <a:sy n="187" d="100"/>
        </p:scale>
        <p:origin x="304" y="15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5255E35-3004-F8D2-C433-030467B981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801567-4E83-7E6D-6EA1-7C8953C87D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B4A8D-A715-944B-994B-5BD7DD74E00F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8DD7EA-32F8-F805-8618-5905BE7957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669DDB-1315-B01A-71F5-EA0C49155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05AA2-4F60-1C42-9FBC-DD013BF5F2A8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7990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29C88-6F11-7B45-8D01-9374FA351118}" type="datetimeFigureOut">
              <a:rPr kumimoji="1" lang="ko-KR" altLang="en-US" smtClean="0"/>
              <a:t>2024. 10. 17.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6261" y="72265"/>
            <a:ext cx="6725478" cy="378308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5132" y="4012923"/>
            <a:ext cx="6667736" cy="472025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09B22-CD35-D844-87F8-817861876E7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532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lnSpc>
        <a:spcPct val="150000"/>
      </a:lnSpc>
      <a:defRPr sz="1800" kern="1200">
        <a:solidFill>
          <a:schemeClr val="tx1"/>
        </a:solidFill>
        <a:latin typeface="Open Sans" panose="020B0606030504020204" pitchFamily="34" charset="0"/>
        <a:ea typeface="+mn-ea"/>
        <a:cs typeface="Open Sans" panose="020B0606030504020204" pitchFamily="34" charset="0"/>
      </a:defRPr>
    </a:lvl1pPr>
    <a:lvl2pPr marL="457200" algn="l" defTabSz="914400" rtl="0" eaLnBrk="1" latinLnBrk="1" hangingPunct="1">
      <a:lnSpc>
        <a:spcPct val="150000"/>
      </a:lnSpc>
      <a:defRPr sz="1800" kern="1200">
        <a:solidFill>
          <a:schemeClr val="tx1"/>
        </a:solidFill>
        <a:latin typeface="Open Sans" panose="020B0606030504020204" pitchFamily="34" charset="0"/>
        <a:ea typeface="+mn-ea"/>
        <a:cs typeface="Open Sans" panose="020B0606030504020204" pitchFamily="34" charset="0"/>
      </a:defRPr>
    </a:lvl2pPr>
    <a:lvl3pPr marL="914400" algn="l" defTabSz="914400" rtl="0" eaLnBrk="1" latinLnBrk="1" hangingPunct="1">
      <a:lnSpc>
        <a:spcPct val="150000"/>
      </a:lnSpc>
      <a:defRPr sz="1800" kern="1200">
        <a:solidFill>
          <a:schemeClr val="tx1"/>
        </a:solidFill>
        <a:latin typeface="Open Sans" panose="020B0606030504020204" pitchFamily="34" charset="0"/>
        <a:ea typeface="+mn-ea"/>
        <a:cs typeface="Open Sans" panose="020B0606030504020204" pitchFamily="34" charset="0"/>
      </a:defRPr>
    </a:lvl3pPr>
    <a:lvl4pPr marL="1371600" algn="l" defTabSz="914400" rtl="0" eaLnBrk="1" latinLnBrk="1" hangingPunct="1">
      <a:lnSpc>
        <a:spcPct val="150000"/>
      </a:lnSpc>
      <a:defRPr sz="1800" kern="1200">
        <a:solidFill>
          <a:schemeClr val="tx1"/>
        </a:solidFill>
        <a:latin typeface="Open Sans" panose="020B0606030504020204" pitchFamily="34" charset="0"/>
        <a:ea typeface="+mn-ea"/>
        <a:cs typeface="Open Sans" panose="020B0606030504020204" pitchFamily="34" charset="0"/>
      </a:defRPr>
    </a:lvl4pPr>
    <a:lvl5pPr marL="1828800" algn="l" defTabSz="914400" rtl="0" eaLnBrk="1" latinLnBrk="1" hangingPunct="1">
      <a:lnSpc>
        <a:spcPct val="150000"/>
      </a:lnSpc>
      <a:defRPr sz="1800" kern="1200">
        <a:solidFill>
          <a:schemeClr val="tx1"/>
        </a:solidFill>
        <a:latin typeface="Open Sans" panose="020B0606030504020204" pitchFamily="34" charset="0"/>
        <a:ea typeface="+mn-ea"/>
        <a:cs typeface="Open Sans" panose="020B0606030504020204" pitchFamily="34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Hello everyone, I am </a:t>
            </a:r>
            <a:r>
              <a:rPr kumimoji="1" lang="en-US" altLang="ko-KR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Jiwon</a:t>
            </a:r>
            <a:r>
              <a:rPr kumimoji="1"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Choi, a master's student in Interactive Data Computing Lab at Sungkyunkwan University. 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Today, I'm going to present </a:t>
            </a:r>
            <a:r>
              <a:rPr kumimoji="1" lang="en-US" altLang="ko-KR" sz="1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Bavisitter</a:t>
            </a:r>
            <a:r>
              <a:rPr kumimoji="1" lang="en-US" altLang="ko-KR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Integrating Design Guidelines into Large language models for visualization authoring. </a:t>
            </a:r>
            <a:endParaRPr kumimoji="1" lang="ko-KR" altLang="en-US" sz="16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9737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" altLang="ko-KR" dirty="0"/>
              <a:t>I believe most of you have probably tried generating visualizations using large language models at least once.</a:t>
            </a:r>
            <a:endParaRPr kumimoji="1" lang="en-US" altLang="ko-KR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9315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However, were their visualizations perfect?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you may have experienced, LLMs produce improper visualizations like humans. 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fact, this happens quite often.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808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This is an example visualization that generated by GPT-4. </a:t>
            </a:r>
          </a:p>
          <a:p>
            <a:endParaRPr lang="en-US" altLang="ko-KR" dirty="0"/>
          </a:p>
          <a:p>
            <a:r>
              <a:rPr lang="en-US" altLang="ko-KR" dirty="0"/>
              <a:t>As you can see, categorical values on the x-axis are connected by line marks.</a:t>
            </a:r>
          </a:p>
          <a:p>
            <a:endParaRPr lang="en-US" altLang="ko-KR" dirty="0"/>
          </a:p>
          <a:p>
            <a:r>
              <a:rPr lang="en-US" altLang="ko-KR" dirty="0"/>
              <a:t>Which is common mistakes that we can easily find in </a:t>
            </a:r>
            <a:r>
              <a:rPr lang="en-US" altLang="ko-KR" dirty="0" err="1"/>
              <a:t>infovis</a:t>
            </a:r>
            <a:r>
              <a:rPr lang="en-US" altLang="ko-KR" dirty="0"/>
              <a:t> textbooks.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70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AA206-BD10-1D5A-08FB-467B0A0B6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FAA925-788D-603F-92CD-08E45A53D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5ACAE3-78D4-52D4-7FC4-7E2559E27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600" dirty="0"/>
              <a:t>Let's look at another example. This visualization shows average monthly temperature changes by year. </a:t>
            </a:r>
          </a:p>
          <a:p>
            <a:endParaRPr lang="en-US" altLang="ko-KR" sz="1600" dirty="0"/>
          </a:p>
          <a:p>
            <a:r>
              <a:rPr lang="en-US" altLang="ko-KR" sz="1600" dirty="0"/>
              <a:t>There is only one unique value in the year attribute, and temperature is encoded in the color channel.</a:t>
            </a:r>
          </a:p>
          <a:p>
            <a:endParaRPr lang="en-US" altLang="ko-KR" sz="1600" dirty="0"/>
          </a:p>
          <a:p>
            <a:r>
              <a:rPr lang="en-US" altLang="ko-KR" sz="1600" dirty="0"/>
              <a:t>In this case, if swapping the channels between year and average temperature, makes it easier to compare the temperature values.</a:t>
            </a:r>
          </a:p>
          <a:p>
            <a:endParaRPr lang="en-US" altLang="ko-KR" sz="1600" dirty="0"/>
          </a:p>
          <a:p>
            <a:r>
              <a:rPr lang="en-US" altLang="ko-KR" sz="1600" dirty="0"/>
              <a:t>While everybody in this session can easily correct these visualizations by giving appropriate prompts, not everyone has this ability. especially novices.</a:t>
            </a:r>
          </a:p>
          <a:p>
            <a:endParaRPr lang="en-US" altLang="ko-KR" sz="1600" dirty="0"/>
          </a:p>
          <a:p>
            <a:r>
              <a:rPr lang="en-US" altLang="ko-KR" sz="1600" dirty="0"/>
              <a:t>As more people become dependent on LLMs, there is a risk that such improper visualizations may become more widespread.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ED4C8-9A6F-E983-E273-EBE2AD75B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5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348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propose Bavisitter as a solution to this problem.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Bavisitter detects errors in visualizations generated by LLMs, and designs corrected visualizations by repeatedly providing feedback prompts.</a:t>
            </a:r>
          </a:p>
          <a:p>
            <a:pPr>
              <a:lnSpc>
                <a:spcPct val="150000"/>
              </a:lnSpc>
            </a:pPr>
            <a:endParaRPr kumimoji="1" lang="ko-KR" altLang="en-US" sz="1800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6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5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Let’s see the short demo video of </a:t>
            </a:r>
            <a:r>
              <a:rPr lang="en-US" altLang="ko-KR" sz="16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Bavisitter</a:t>
            </a:r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[</a:t>
            </a:r>
            <a:r>
              <a:rPr lang="ko-KR" alt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재생</a:t>
            </a:r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the user specify their needs, Bavisitter automatically designs visualization as the other LLMs do.</a:t>
            </a:r>
            <a:b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kumimoji="1" lang="en-US" altLang="ko-KR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However, we can see that the labels of destination are overlapping each other because of high cardinality of destination attribute.</a:t>
            </a:r>
            <a:b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kumimoji="1" lang="en-US" altLang="ko-KR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altLang="ko-KR" sz="16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Bavisitter</a:t>
            </a:r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presents the identified and their potential solutions for the user to choose.</a:t>
            </a:r>
          </a:p>
          <a:p>
            <a:endParaRPr lang="en-US" altLang="ko-KR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Once the user selects solutions, </a:t>
            </a:r>
            <a:r>
              <a:rPr lang="en-US" altLang="ko-KR" sz="16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Bavisitter</a:t>
            </a:r>
            <a:r>
              <a:rPr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displays revised visualization based on the feedback prompt.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1486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en-US" altLang="ko-KR" sz="1800" b="0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To </a:t>
            </a:r>
            <a:r>
              <a:rPr lang="en-US" altLang="ko-KR" dirty="0">
                <a:latin typeface="Open Sans" pitchFamily="2" charset="0"/>
                <a:ea typeface="Open Sans" pitchFamily="2" charset="0"/>
                <a:cs typeface="Open Sans" pitchFamily="2" charset="0"/>
              </a:rPr>
              <a:t>design</a:t>
            </a:r>
            <a:r>
              <a:rPr lang="en-US" altLang="ko-KR" sz="1800" b="0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 Bavisitter, we first needed to understand what mistakes LLMs typically make.</a:t>
            </a:r>
          </a:p>
          <a:p>
            <a:pPr algn="l">
              <a:lnSpc>
                <a:spcPct val="150000"/>
              </a:lnSpc>
            </a:pPr>
            <a:br>
              <a:rPr lang="en-US" altLang="ko-KR" sz="1800" b="0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altLang="ko-KR" sz="1800" b="0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  <a:t>To this end, we first generated ten visualizations for each of the fifty-nine (59) tabular datasets from the Vega Datasets repository.</a:t>
            </a:r>
          </a:p>
          <a:p>
            <a:pPr algn="l">
              <a:lnSpc>
                <a:spcPct val="150000"/>
              </a:lnSpc>
            </a:pPr>
            <a:endParaRPr lang="en-US" altLang="ko-KR" sz="1800" b="0" i="0" dirty="0"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As a result, we were able to get a corpus of five hundred ninety (590) visualization images.</a:t>
            </a:r>
          </a:p>
          <a:p>
            <a:pPr algn="l">
              <a:lnSpc>
                <a:spcPct val="150000"/>
              </a:lnSpc>
            </a:pPr>
            <a:br>
              <a:rPr lang="en-US" altLang="ko-KR" sz="1800" b="0" i="0" dirty="0">
                <a:effectLst/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endParaRPr lang="en-US" altLang="ko-KR" sz="1800" b="0" i="0" dirty="0">
              <a:effectLst/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50000"/>
              </a:lnSpc>
            </a:pPr>
            <a:endParaRPr kumimoji="1" lang="ko-KR" altLang="en-US" sz="1800" dirty="0">
              <a:latin typeface="Open Sans" pitchFamily="2" charset="0"/>
              <a:cs typeface="Open Sans" pitchFamily="2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0247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800" dirty="0"/>
              <a:t>Then, we sampled two hundred visualization images consist of twenty four chart types.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Two authors manually annotated the issues that occurred in the design visualization images. 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As a result, we identified one hundred</a:t>
            </a:r>
            <a:r>
              <a:rPr lang="ko-KR" altLang="en-US" dirty="0"/>
              <a:t> </a:t>
            </a:r>
            <a:r>
              <a:rPr lang="en-US" altLang="ko-KR" dirty="0"/>
              <a:t>and four improper visualizations which contains twenty three unique issues.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2185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B1977-D95E-B98F-45AE-7E210CBB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F050BC-9AE9-5A8A-8F02-A0594FCFD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F24B1A-F7EF-AE05-8063-4DE932573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800" dirty="0"/>
              <a:t>Finally, we conduct a thematic analysis to identify common themes.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We identified 5 common themes of the design issues, expressiveness, effectiveness, perception, interpretability, and legibility issues.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E30C7-0040-1186-23E3-573F739A6B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2959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800" dirty="0"/>
              <a:t>Now, let's see how Bavisitter integrates the issues that we identified into the LLMs.</a:t>
            </a:r>
          </a:p>
          <a:p>
            <a:pPr>
              <a:lnSpc>
                <a:spcPct val="150000"/>
              </a:lnSpc>
            </a:pP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It's a three-phased process Prompting, Detecting, and Resolving.</a:t>
            </a:r>
            <a:endParaRPr kumimoji="1"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2104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75011-D626-BBE3-E3E0-6B35B63D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795064-7DB3-4510-39AC-4A26499FA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224745-9A39-138E-6DDF-238020FDE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the Prompting phase, it's just like using any other LLMs.</a:t>
            </a:r>
            <a:b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b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user enters what they want, and the LLM designs a visualization.</a:t>
            </a:r>
            <a:b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b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However, as we've seen earlier, LLMs sometimes generate improper visualizations.</a:t>
            </a:r>
          </a:p>
          <a:p>
            <a:pPr>
              <a:lnSpc>
                <a:spcPct val="150000"/>
              </a:lnSpc>
            </a:pPr>
            <a:b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Like this one here, LLM generates a line chart for categorical attribute.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66BEF-B982-E13B-6212-7CCB9DE15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12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9869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861F-13A5-1122-5F19-A873AC994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67E737-D36F-55DA-9F35-6D7F4DD4F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BCC69F-4755-8548-C4F3-FDC19D331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/>
              <a:t>Once a visualization is generated, Bavisitter performs the Detecting Phase, unlike other existing LLMs which displays without any extra steps.</a:t>
            </a:r>
            <a:br>
              <a:rPr lang="en-US" altLang="ko-KR" sz="1800" dirty="0"/>
            </a:br>
            <a:endParaRPr kumimoji="1"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0186AE-229A-D56F-8D84-2AD86550A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90751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B850B-B5AF-2E14-2DF9-1172E8F5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2D7CA8-D1B5-42CB-992C-F9CE8ADFD7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057E2-41DB-3FCF-E9FD-403274B95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/>
              <a:t>During this phase, Bavisitter identifies issues in the visualization.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CA11D8-8D00-1F6E-9D58-5F734F739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8849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97DE5-429B-A932-1881-C3E9C8827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58A2AB-8513-86DE-B67F-BC5D918C0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801A08-991D-D387-51B2-357BF4D01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the Resolving Phase, Bavisitter suggests multiple feedback prompts that can address the detected issues, and the user can select some of these.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77402D-A37C-065C-2E52-40C8D8B9E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8411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99234-EA56-EB31-0050-F2443390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4614A8-3E01-E15F-988D-0E117CAB0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FBEDA-C226-F80F-7DEB-C73F26B32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ko-KR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When the user selects the feedback prompts, they are sent to the LLM. </a:t>
            </a:r>
            <a:endParaRPr kumimoji="1" lang="ko-KR" altLang="en-US" sz="1800" dirty="0">
              <a:latin typeface="Open Sans" pitchFamily="2" charset="0"/>
              <a:cs typeface="Open Sans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03DD19-B492-EAC5-55EA-8E224D5C9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17305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FCE4-044E-BAB9-9138-D4EF6B61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1E3373-61BF-8361-7722-282DA3403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B847E6-195B-7E6A-B257-99061C5FD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ko-KR" sz="1800" dirty="0">
                <a:latin typeface="Open Sans" pitchFamily="2" charset="0"/>
                <a:cs typeface="Open Sans" pitchFamily="2" charset="0"/>
              </a:rPr>
              <a:t>Finally, Based on the user-selected feedback prompt, Bavisitter revises previous visualization. </a:t>
            </a:r>
            <a:endParaRPr kumimoji="1" lang="ko-KR" altLang="en-US" sz="1800" dirty="0">
              <a:latin typeface="Open Sans" pitchFamily="2" charset="0"/>
              <a:cs typeface="Open Sans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FF30F-5821-2C62-982D-3ECBFFC2F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8898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sz="1800" dirty="0"/>
              <a:t>From now on, let's discuss about implementation of the three-phased process.</a:t>
            </a:r>
            <a:br>
              <a:rPr kumimoji="1" lang="en-US" altLang="ko-KR" sz="1800" dirty="0"/>
            </a:br>
            <a:br>
              <a:rPr kumimoji="1" lang="en-US" altLang="ko-KR" sz="1800" dirty="0"/>
            </a:br>
            <a:r>
              <a:rPr kumimoji="1" lang="en-US" altLang="ko-KR" sz="1800" dirty="0"/>
              <a:t>The powerful generalization capabilities of LLMs enable them to process various inputs.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Let's see the example for the Prompting Phase. 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The user can enter the most general request, such as "give me some chart."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More specifically, the user can specify encodings, data aggregation, and colors in natural language. Such as "give me a histogram of IMDB Rating, sort by count, color to blue, ..."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Even further, it is possible to input the partial visualization specifications to the LLM.</a:t>
            </a:r>
            <a:endParaRPr kumimoji="1" lang="en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91239" y="8685213"/>
            <a:ext cx="2971800" cy="458787"/>
          </a:xfrm>
        </p:spPr>
        <p:txBody>
          <a:bodyPr/>
          <a:lstStyle/>
          <a:p>
            <a:fld id="{9DF09B22-CD35-D844-87F8-817861876E70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57392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800" dirty="0"/>
              <a:t>Similarly</a:t>
            </a:r>
            <a:r>
              <a:rPr lang="en" altLang="ko-KR" sz="1800" dirty="0"/>
              <a:t>, in the Detecting Phase, we can prompt the LLM to "Find any problems,"</a:t>
            </a:r>
          </a:p>
          <a:p>
            <a:pPr>
              <a:lnSpc>
                <a:spcPct val="150000"/>
              </a:lnSpc>
            </a:pPr>
            <a:endParaRPr lang="en" altLang="ko-KR" sz="1800" dirty="0"/>
          </a:p>
          <a:p>
            <a:pPr>
              <a:lnSpc>
                <a:spcPct val="150000"/>
              </a:lnSpc>
            </a:pPr>
            <a:r>
              <a:rPr lang="en" altLang="ko-KR" sz="1800" dirty="0"/>
              <a:t>or prompt it to "check if the chart is using line marks for categorical attributes,"</a:t>
            </a:r>
          </a:p>
          <a:p>
            <a:pPr>
              <a:lnSpc>
                <a:spcPct val="150000"/>
              </a:lnSpc>
            </a:pPr>
            <a:endParaRPr lang="en" altLang="ko-KR" sz="1800" dirty="0"/>
          </a:p>
          <a:p>
            <a:pPr>
              <a:lnSpc>
                <a:spcPct val="150000"/>
              </a:lnSpc>
            </a:pPr>
            <a:r>
              <a:rPr lang="en" altLang="ko-KR" sz="1800" dirty="0"/>
              <a:t>or we can directly implement functions</a:t>
            </a:r>
            <a:r>
              <a:rPr lang="ko-KR" altLang="en-US" sz="1800" dirty="0"/>
              <a:t> </a:t>
            </a:r>
            <a:r>
              <a:rPr lang="en-US" altLang="ko-KR" sz="1800" dirty="0"/>
              <a:t>that detect issues.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r>
              <a:rPr lang="en-US" altLang="ko-KR" dirty="0"/>
              <a:t>Since the Detecting Phase is performed by the system not the user,</a:t>
            </a:r>
          </a:p>
          <a:p>
            <a:endParaRPr lang="en-US" altLang="ko-KR" dirty="0"/>
          </a:p>
          <a:p>
            <a:r>
              <a:rPr lang="en-US" altLang="ko-KR" dirty="0"/>
              <a:t>it is necessary to determine the level of specificity in implementing the Detecting Phase. </a:t>
            </a:r>
            <a:endParaRPr lang="en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19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605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" altLang="ko-KR" sz="1800" dirty="0"/>
              <a:t>A similar tension appears in the Resolving Phase as well.</a:t>
            </a:r>
          </a:p>
          <a:p>
            <a:pPr>
              <a:lnSpc>
                <a:spcPct val="150000"/>
              </a:lnSpc>
            </a:pPr>
            <a:endParaRPr lang="en" altLang="ko-KR" sz="1800" dirty="0"/>
          </a:p>
          <a:p>
            <a:pPr>
              <a:lnSpc>
                <a:spcPct val="150000"/>
              </a:lnSpc>
            </a:pPr>
            <a:r>
              <a:rPr lang="en" altLang="ko-KR" sz="1800" dirty="0"/>
              <a:t>We can prompt by saying ”there is an issue that line mark is used for encode categorical attribute,"</a:t>
            </a:r>
          </a:p>
          <a:p>
            <a:pPr>
              <a:lnSpc>
                <a:spcPct val="150000"/>
              </a:lnSpc>
            </a:pPr>
            <a:endParaRPr lang="en" altLang="ko-KR" sz="1800" dirty="0"/>
          </a:p>
          <a:p>
            <a:pPr>
              <a:lnSpc>
                <a:spcPct val="150000"/>
              </a:lnSpc>
            </a:pPr>
            <a:r>
              <a:rPr lang="en" altLang="ko-KR" sz="1800" dirty="0"/>
              <a:t>or "change the mark value line to bar,"</a:t>
            </a:r>
          </a:p>
          <a:p>
            <a:pPr>
              <a:lnSpc>
                <a:spcPct val="150000"/>
              </a:lnSpc>
            </a:pPr>
            <a:endParaRPr lang="en" altLang="ko-KR" sz="1800" dirty="0"/>
          </a:p>
          <a:p>
            <a:pPr>
              <a:lnSpc>
                <a:spcPct val="150000"/>
              </a:lnSpc>
            </a:pPr>
            <a:r>
              <a:rPr lang="en" altLang="ko-KR" sz="1800" dirty="0"/>
              <a:t>Most specifically, we can directly implement functions to handle these feedbacks.</a:t>
            </a:r>
          </a:p>
          <a:p>
            <a:pPr>
              <a:lnSpc>
                <a:spcPct val="150000"/>
              </a:lnSpc>
            </a:pPr>
            <a:endParaRPr kumimoji="1"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7927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" altLang="ko-KR" sz="1600" dirty="0"/>
              <a:t>Unfortunately, each choice has trade-offs, and there is no one-</a:t>
            </a:r>
            <a:r>
              <a:rPr kumimoji="1" lang="en-US" altLang="ko-KR" sz="1600" dirty="0"/>
              <a:t>s</a:t>
            </a:r>
            <a:r>
              <a:rPr kumimoji="1" lang="en" altLang="ko-KR" sz="1600" dirty="0" err="1"/>
              <a:t>ize</a:t>
            </a:r>
            <a:r>
              <a:rPr kumimoji="1" lang="en" altLang="ko-KR" sz="1600" dirty="0"/>
              <a:t>-fits-all approach.  In </a:t>
            </a:r>
            <a:r>
              <a:rPr kumimoji="1" lang="en" altLang="ko-KR" sz="1600" dirty="0" err="1"/>
              <a:t>Bavisitter</a:t>
            </a:r>
            <a:r>
              <a:rPr kumimoji="1" lang="en" altLang="ko-KR" sz="1600" dirty="0"/>
              <a:t>, we take a hybrid approach.  </a:t>
            </a:r>
            <a:endParaRPr kumimoji="1"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1058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8F76-2D25-F003-B548-0F37ADDF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62D809-EAE7-6765-DFE1-9675D74DB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9ADD35-1E9D-7056-B66F-74CC7371A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ko-KR" sz="1600" dirty="0"/>
              <a:t>We chose to use pre-defined heuristics for Detecting Phase  to keep the detection logic interpretable and ensure not to miss the issues that we surveyed.</a:t>
            </a:r>
          </a:p>
          <a:p>
            <a:pPr>
              <a:lnSpc>
                <a:spcPct val="150000"/>
              </a:lnSpc>
            </a:pPr>
            <a:endParaRPr kumimoji="1" lang="en" altLang="ko-KR" sz="1600" dirty="0"/>
          </a:p>
          <a:p>
            <a:r>
              <a:rPr lang="en-US" altLang="ko-KR" sz="1600" dirty="0"/>
              <a:t>In the Resolving Phase, we chose to append the additional feedback prompt to the original prompt.</a:t>
            </a:r>
          </a:p>
          <a:p>
            <a:endParaRPr lang="en-US" altLang="ko-KR" sz="1600" dirty="0"/>
          </a:p>
          <a:p>
            <a:r>
              <a:rPr lang="en-US" altLang="ko-KR" sz="1600" dirty="0"/>
              <a:t>This approach exploits the</a:t>
            </a:r>
            <a:r>
              <a:rPr lang="ko-KR" altLang="en-US" sz="1600" dirty="0"/>
              <a:t> </a:t>
            </a:r>
            <a:r>
              <a:rPr lang="en-US" altLang="ko-KR" sz="1600" dirty="0"/>
              <a:t>great generalizability of LLMs and better keeps the user informed of the changes made by the system.</a:t>
            </a:r>
          </a:p>
          <a:p>
            <a:endParaRPr kumimoji="1"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06A549-E1A1-840E-D82F-D3E7F81C9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22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3002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" altLang="ko-KR" sz="1600" dirty="0"/>
              <a:t>Bavisitter runs as a widget in an interactive Python environment.</a:t>
            </a:r>
          </a:p>
          <a:p>
            <a:pPr>
              <a:lnSpc>
                <a:spcPct val="150000"/>
              </a:lnSpc>
            </a:pPr>
            <a:endParaRPr lang="en" altLang="ko-KR" sz="1600" dirty="0"/>
          </a:p>
          <a:p>
            <a:pPr>
              <a:lnSpc>
                <a:spcPct val="150000"/>
              </a:lnSpc>
            </a:pPr>
            <a:r>
              <a:rPr lang="en" altLang="ko-KR" sz="1600" dirty="0"/>
              <a:t>It interacts with LLMs, executing other python libraries, and designs Vega-Lite visualizations as a result.</a:t>
            </a:r>
          </a:p>
          <a:p>
            <a:endParaRPr lang="en-US" altLang="ko-KR" sz="1600" dirty="0"/>
          </a:p>
          <a:p>
            <a:r>
              <a:rPr lang="en-US" altLang="ko-KR" sz="1600" dirty="0"/>
              <a:t>This design not only allows users to integrate different types of LLMs </a:t>
            </a:r>
            <a:r>
              <a:rPr lang="en" altLang="ko-KR" sz="1600" dirty="0"/>
              <a:t>provided either locally or through APIs,</a:t>
            </a:r>
            <a:endParaRPr lang="en-US" altLang="ko-KR" sz="1600" dirty="0"/>
          </a:p>
          <a:p>
            <a:r>
              <a:rPr lang="en-US" altLang="ko-KR" sz="1600" dirty="0"/>
              <a:t>but also various Python libraries, including research outputs from VIS communities.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1900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0025" y="176213"/>
            <a:ext cx="6457950" cy="36322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172226" y="4001467"/>
            <a:ext cx="6513548" cy="42745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In conclusion,</a:t>
            </a:r>
            <a:r>
              <a:rPr kumimoji="1" lang="ko-KR" alt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we identified twenty three common issues LLMs that make while generating visualizations.</a:t>
            </a:r>
          </a:p>
          <a:p>
            <a:pPr>
              <a:lnSpc>
                <a:spcPct val="150000"/>
              </a:lnSpc>
            </a:pPr>
            <a:endParaRPr kumimoji="1" lang="en-US" altLang="ko-KR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Based on these issues, we designed Bavisitter, a natural language interface that detects design issues and resolves them with feedback prompts. </a:t>
            </a:r>
          </a:p>
          <a:p>
            <a:pPr>
              <a:lnSpc>
                <a:spcPct val="150000"/>
              </a:lnSpc>
            </a:pPr>
            <a:endParaRPr kumimoji="1" lang="en-US" altLang="ko-KR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Bavisitter is fully open-sourced software in GitHub and can be easily installed with pip. </a:t>
            </a:r>
            <a:b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b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kumimoji="1" lang="en-US" altLang="ko-KR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Thank you for listening!</a:t>
            </a:r>
            <a:endParaRPr kumimoji="1" lang="ko-KR" altLang="en-US" sz="1600" dirty="0">
              <a:latin typeface="Open Sans" pitchFamily="2" charset="0"/>
              <a:cs typeface="Open Sans" pitchFamily="2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24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66055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35897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6675" y="73025"/>
            <a:ext cx="6724650" cy="37830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" altLang="ko-KR" sz="1600" dirty="0"/>
              <a:t>Looking ahead, we have outlined several key areas for future work. We plan to conduct comprehensive user studies to evaluate </a:t>
            </a:r>
            <a:r>
              <a:rPr lang="en" altLang="ko-KR" sz="1600" dirty="0" err="1"/>
              <a:t>Bavisitter's</a:t>
            </a:r>
            <a:r>
              <a:rPr lang="en" altLang="ko-KR" sz="1600" dirty="0"/>
              <a:t> effectiveness, with a particular focus on how it aids novice users.</a:t>
            </a:r>
          </a:p>
          <a:p>
            <a:pPr>
              <a:lnSpc>
                <a:spcPct val="150000"/>
              </a:lnSpc>
            </a:pPr>
            <a:endParaRPr lang="en" altLang="ko-KR" sz="1600" dirty="0"/>
          </a:p>
          <a:p>
            <a:pPr>
              <a:lnSpc>
                <a:spcPct val="150000"/>
              </a:lnSpc>
            </a:pPr>
            <a:r>
              <a:rPr lang="en" altLang="ko-KR" sz="1600" dirty="0"/>
              <a:t>To overcome current limitations, we aim to develop more advanced models and larger training datasets, allowing us to generalize our heuristics.</a:t>
            </a:r>
          </a:p>
          <a:p>
            <a:pPr>
              <a:lnSpc>
                <a:spcPct val="150000"/>
              </a:lnSpc>
            </a:pPr>
            <a:endParaRPr lang="en" altLang="ko-KR" sz="1600" dirty="0"/>
          </a:p>
          <a:p>
            <a:pPr>
              <a:lnSpc>
                <a:spcPct val="150000"/>
              </a:lnSpc>
            </a:pPr>
            <a:r>
              <a:rPr lang="en" altLang="ko-KR" sz="1600" dirty="0"/>
              <a:t>Lastly, we intend to expand </a:t>
            </a:r>
            <a:r>
              <a:rPr lang="en" altLang="ko-KR" sz="1600" dirty="0" err="1"/>
              <a:t>Bavisitter's</a:t>
            </a:r>
            <a:r>
              <a:rPr lang="en" altLang="ko-KR" sz="1600" dirty="0"/>
              <a:t> capabilities by integrating external visualization libraries, broadening its applicability and utility.</a:t>
            </a:r>
            <a:endParaRPr kumimoji="1"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09B22-CD35-D844-87F8-817861876E70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684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5B786A-B711-A042-9DAC-A1D5B2AF7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639" y="1013363"/>
            <a:ext cx="10122720" cy="12474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F623D6-048F-EB3F-85CA-7927A2CF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122" y="6605124"/>
            <a:ext cx="6953756" cy="228600"/>
          </a:xfrm>
        </p:spPr>
        <p:txBody>
          <a:bodyPr/>
          <a:lstStyle/>
          <a:p>
            <a:r>
              <a:rPr kumimoji="1" lang="en-US" altLang="ko-KR" b="1" i="1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9A392-7524-2B43-8C00-F81D8F8B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0A2C1F0-DAC8-CB5A-8C23-9CF2E2268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3316475"/>
            <a:ext cx="9143999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606514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77C99-BA27-9755-04D9-948ECEABBA7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Open Sans" pitchFamily="2" charset="0"/>
                <a:cs typeface="Open Sans" pitchFamily="2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62382-428C-60F0-E0CA-567EA6A6FF04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Clr>
                <a:schemeClr val="bg1"/>
              </a:buClr>
              <a:buSzPct val="30000"/>
              <a:buFont typeface="Wingdings" pitchFamily="2" charset="2"/>
              <a:buChar char="l"/>
              <a:defRPr>
                <a:latin typeface="Open Sans" pitchFamily="2" charset="0"/>
                <a:cs typeface="Open Sans" pitchFamily="2" charset="0"/>
              </a:defRPr>
            </a:lvl1pPr>
            <a:lvl2pPr marL="540000" indent="-342900">
              <a:spcBef>
                <a:spcPts val="200"/>
              </a:spcBef>
              <a:buClrTx/>
              <a:buSzPct val="100000"/>
              <a:buFont typeface="Arial" panose="020B0604020202020204" pitchFamily="34" charset="0"/>
              <a:buChar char="•"/>
              <a:defRPr>
                <a:latin typeface="Open Sans" pitchFamily="2" charset="0"/>
                <a:cs typeface="Open Sans" pitchFamily="2" charset="0"/>
              </a:defRPr>
            </a:lvl2pPr>
            <a:lvl3pPr marL="360000" indent="-1800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시스템 서체 일반체"/>
              <a:buChar char="-"/>
              <a:defRPr>
                <a:latin typeface="Open Sans" pitchFamily="2" charset="0"/>
                <a:cs typeface="Open Sans" pitchFamily="2" charset="0"/>
              </a:defRPr>
            </a:lvl3pPr>
            <a:lvl4pPr marL="360000" indent="-180000">
              <a:buClrTx/>
              <a:buSzPct val="100000"/>
              <a:buFont typeface="시스템 서체 일반체"/>
              <a:buChar char="-"/>
              <a:defRPr b="1">
                <a:solidFill>
                  <a:schemeClr val="accent2"/>
                </a:solidFill>
                <a:latin typeface="Open Sans" pitchFamily="2" charset="0"/>
                <a:cs typeface="Open Sans" pitchFamily="2" charset="0"/>
              </a:defRPr>
            </a:lvl4pPr>
            <a:lvl5pPr marL="360000" indent="-1800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시스템 서체 일반체"/>
              <a:buChar char="-"/>
              <a:defRPr>
                <a:latin typeface="Open Sans" pitchFamily="2" charset="0"/>
                <a:cs typeface="Open Sans" pitchFamily="2" charset="0"/>
              </a:defRPr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39EDF-9C3B-9FD2-AA8D-8437A316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9B82A9-B6DE-5EBC-492E-7D6FC578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Open Sans" pitchFamily="2" charset="0"/>
                <a:cs typeface="Open Sans" pitchFamily="2" charset="0"/>
              </a:defRPr>
            </a:lvl1pPr>
          </a:lstStyle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96846-E4E0-274A-9B42-E9091660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05571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11B56-9EF3-52E0-2C84-7A189376E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8AE916-681E-7E48-B7CD-F40D4201E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99C5F5-BA27-B556-1250-547A66AE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9D20D-E338-D428-E861-070BE655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2444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71054-AD04-7EF8-8EE5-C78DDAB9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42" y="215745"/>
            <a:ext cx="11906117" cy="930584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E7B5D-69AD-CB3B-35D5-9C730A0F78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FBA4C6-440E-5C2F-94E1-0018494FB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EE3D19-7206-A30D-108D-9CDD0D2B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4C289B-9464-4626-951B-BFA56A6A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CDC596-9A18-7BB1-A80A-FEA3DC28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9400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2ED3F-4279-F3FD-E6A6-A80A3A17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99C9E3-2686-5D6D-98F8-9C709AD58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AE3B18-B481-4420-E0EF-6C325B6E4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A4555E-A88A-7F8A-30AA-191597B0D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3E14EE-69A8-2EAE-8D65-8D9B570B1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34EE6F2-70A4-8C63-18CD-332A524AB7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00722A-33C0-8DCC-06A4-0071F3D7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037A1D-B895-8441-9853-E390AB5A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22345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B1BCDD-2292-78A7-4932-F8922ED9B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42" y="215745"/>
            <a:ext cx="11906117" cy="930584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339C40-3259-1C6A-5340-E413FD44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8342ED-D175-99AD-98D5-146D6143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4766E6-6346-0454-39B2-3C8C3403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8888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7CEF34-6613-E3C3-34E2-67DFC7FA1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C0AB4E-7853-F1DE-0F7C-BECF4269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F60726-6919-7959-27DA-E01DAFF7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0570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B3A95-21B6-9E16-BCBD-75F208F7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0D855-1072-5E53-1E0A-1D3A8CA20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31864A-F0C8-3671-20B0-C1613B78A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39DF60-744A-60BC-CEC6-80266973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A5CF1B-B413-09B7-C756-893C8EE4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000FB4-6010-5FFE-4580-2081438E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7624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9EDAB-864F-1D8E-FBFB-C512B8BFF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73E5A3-0A49-F8BD-49D9-AE7F22CDC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FAF2C6-4F85-EEA1-9C57-A2C422100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D3D159-FB2C-4A47-6860-507ED7F7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62D646-4398-E237-1257-732FC4487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4CAFAE-CFDC-BF87-1030-BB28C7BD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676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B7C59-B9B7-C774-9CF8-2AF4AA877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42" y="215745"/>
            <a:ext cx="11906117" cy="930584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4AFBC7F-2805-91BE-854A-D7EAC1DC1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41" y="1319002"/>
            <a:ext cx="11906118" cy="505752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2F785E-543E-C4ED-D135-13FD2F3B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09E61-BC7E-02A6-8DF0-D4E68BA5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0CBFB4-FD7A-9638-2E27-6249CA43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8519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CD1EFB-A1FB-8A1E-BD4E-8F6E66051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380572-03FC-0142-D58E-59641AE39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8EBCD-13A6-1CE0-6B7F-4A1DAE2D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678" y="6605124"/>
            <a:ext cx="2743200" cy="228600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F17A5-A8E8-1EBC-1E58-E4C2AAE12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B9DC80-F15E-CB34-23C3-8E0D7BEE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7072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71757E6-B5C6-E8FF-4B88-9D89972F32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570733"/>
            <a:ext cx="12192000" cy="287267"/>
          </a:xfrm>
          <a:prstGeom prst="rect">
            <a:avLst/>
          </a:prstGeom>
          <a:solidFill>
            <a:srgbClr val="004B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1BE6F2-67E5-A494-ED4B-D8831050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8" y="215745"/>
            <a:ext cx="11577006" cy="930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E930A5-8107-4565-260F-D9423DF8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496" y="1319002"/>
            <a:ext cx="11577008" cy="50575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516F2B-426F-59FA-7597-CDE12EBF2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80963" y="6605124"/>
            <a:ext cx="6630074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0" i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en-US" altLang="ko-KR" b="1" i="1" dirty="0"/>
              <a:t>Bavisitter: 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05B0F-DE1A-9DFB-0F0E-D081E34EB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5124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0127B594-932E-8E4B-861D-A0BF6FB3273C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074841B-3ED7-6C2D-08B1-FFFA9A815CD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5309" y="6625087"/>
            <a:ext cx="139620" cy="1639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92E03B-97D8-2B0B-F023-61C5129EE354}"/>
              </a:ext>
            </a:extLst>
          </p:cNvPr>
          <p:cNvSpPr txBox="1"/>
          <p:nvPr userDrawn="1"/>
        </p:nvSpPr>
        <p:spPr>
          <a:xfrm>
            <a:off x="215752" y="6535738"/>
            <a:ext cx="769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800" spc="-80" baseline="0" dirty="0" err="1">
                <a:solidFill>
                  <a:schemeClr val="bg1"/>
                </a:solidFill>
                <a:latin typeface="Rajdhani Medium" panose="02000000000000000000" pitchFamily="2" charset="0"/>
                <a:cs typeface="Rajdhani Medium" panose="02000000000000000000" pitchFamily="2" charset="0"/>
              </a:rPr>
              <a:t>IDC</a:t>
            </a:r>
            <a:r>
              <a:rPr kumimoji="1" lang="en-US" altLang="ko-Kore-KR" sz="1800" spc="-80" baseline="0" dirty="0" err="1">
                <a:solidFill>
                  <a:schemeClr val="bg1"/>
                </a:solidFill>
                <a:latin typeface="Rajdhani" panose="02000000000000000000" pitchFamily="2" charset="0"/>
                <a:cs typeface="Rajdhani" panose="02000000000000000000" pitchFamily="2" charset="0"/>
              </a:rPr>
              <a:t>Lab</a:t>
            </a:r>
            <a:endParaRPr kumimoji="1" lang="ko-Kore-KR" altLang="en-US" sz="1800" spc="-80" baseline="0">
              <a:solidFill>
                <a:schemeClr val="bg1"/>
              </a:solidFill>
              <a:latin typeface="Rajdhani" panose="02000000000000000000" pitchFamily="2" charset="0"/>
              <a:cs typeface="Rajdhani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959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004B7D"/>
          </a:solidFill>
          <a:latin typeface="Open Sans" pitchFamily="2" charset="0"/>
          <a:ea typeface="Pretendard SemiBold" panose="02000503000000020004" pitchFamily="2" charset="-127"/>
          <a:cs typeface="Open Sans" pitchFamily="2" charset="0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1000"/>
        </a:spcBef>
        <a:buClr>
          <a:schemeClr val="bg1"/>
        </a:buClr>
        <a:buSzPct val="30000"/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Open Sans" pitchFamily="2" charset="0"/>
          <a:ea typeface="Pretendard SemiBold" panose="02000503000000020004" pitchFamily="2" charset="-127"/>
          <a:cs typeface="Open Sans" pitchFamily="2" charset="0"/>
        </a:defRPr>
      </a:lvl1pPr>
      <a:lvl2pPr marL="0" indent="0" algn="l" defTabSz="914400" rtl="0" eaLnBrk="1" latinLnBrk="1" hangingPunct="1">
        <a:lnSpc>
          <a:spcPct val="120000"/>
        </a:lnSpc>
        <a:spcBef>
          <a:spcPts val="500"/>
        </a:spcBef>
        <a:buClr>
          <a:schemeClr val="bg1"/>
        </a:buClr>
        <a:buSzPct val="3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en Sans" pitchFamily="2" charset="0"/>
          <a:ea typeface="Pretendard" panose="02000503000000020004" pitchFamily="2" charset="-127"/>
          <a:cs typeface="Open Sans" pitchFamily="2" charset="0"/>
        </a:defRPr>
      </a:lvl2pPr>
      <a:lvl3pPr marL="360000" indent="-342900" algn="l" defTabSz="914400" rtl="0" eaLnBrk="1" latinLnBrk="1" hangingPunct="1">
        <a:lnSpc>
          <a:spcPct val="120000"/>
        </a:lnSpc>
        <a:spcBef>
          <a:spcPts val="500"/>
        </a:spcBef>
        <a:buClr>
          <a:schemeClr val="bg1"/>
        </a:buClr>
        <a:buSzPct val="30000"/>
        <a:buFont typeface="Arial" panose="020B0604020202020204" pitchFamily="34" charset="0"/>
        <a:buChar char="•"/>
        <a:defRPr sz="2000" b="0" i="0" kern="1200">
          <a:solidFill>
            <a:schemeClr val="tx1">
              <a:lumMod val="50000"/>
              <a:lumOff val="50000"/>
            </a:schemeClr>
          </a:solidFill>
          <a:latin typeface="Open Sans" pitchFamily="2" charset="0"/>
          <a:ea typeface="Pretendard" panose="02000503000000020004" pitchFamily="2" charset="-127"/>
          <a:cs typeface="Open Sans" pitchFamily="2" charset="0"/>
        </a:defRPr>
      </a:lvl3pPr>
      <a:lvl4pPr marL="360000" indent="-285750" algn="l" defTabSz="914400" rtl="0" eaLnBrk="1" latinLnBrk="1" hangingPunct="1">
        <a:lnSpc>
          <a:spcPct val="120000"/>
        </a:lnSpc>
        <a:spcBef>
          <a:spcPts val="500"/>
        </a:spcBef>
        <a:buClr>
          <a:schemeClr val="bg1"/>
        </a:buClr>
        <a:buSzPct val="30000"/>
        <a:buFont typeface="Arial" panose="020B0604020202020204" pitchFamily="34" charset="0"/>
        <a:buChar char="•"/>
        <a:defRPr sz="1800" b="0" i="0" kern="1200">
          <a:solidFill>
            <a:schemeClr val="tx1">
              <a:lumMod val="50000"/>
              <a:lumOff val="50000"/>
            </a:schemeClr>
          </a:solidFill>
          <a:latin typeface="Open Sans" pitchFamily="2" charset="0"/>
          <a:ea typeface="Pretendard" panose="02000503000000020004" pitchFamily="2" charset="-127"/>
          <a:cs typeface="Open Sans" pitchFamily="2" charset="0"/>
        </a:defRPr>
      </a:lvl4pPr>
      <a:lvl5pPr marL="360000" indent="-285750" algn="l" defTabSz="914400" rtl="0" eaLnBrk="1" latinLnBrk="1" hangingPunct="1">
        <a:lnSpc>
          <a:spcPct val="120000"/>
        </a:lnSpc>
        <a:spcBef>
          <a:spcPts val="500"/>
        </a:spcBef>
        <a:buClr>
          <a:schemeClr val="bg1"/>
        </a:buClr>
        <a:buSzPct val="30000"/>
        <a:buFont typeface="Arial" panose="020B0604020202020204" pitchFamily="34" charset="0"/>
        <a:buChar char="•"/>
        <a:defRPr sz="1800" b="0" i="0" kern="1200">
          <a:solidFill>
            <a:schemeClr val="tx1">
              <a:lumMod val="50000"/>
              <a:lumOff val="50000"/>
            </a:schemeClr>
          </a:solidFill>
          <a:latin typeface="Open Sans" pitchFamily="2" charset="0"/>
          <a:ea typeface="Pretendard" panose="02000503000000020004" pitchFamily="2" charset="-127"/>
          <a:cs typeface="Open Sans" pitchFamily="2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8.png"/><Relationship Id="rId21" Type="http://schemas.openxmlformats.org/officeDocument/2006/relationships/image" Target="../media/image35.svg"/><Relationship Id="rId7" Type="http://schemas.openxmlformats.org/officeDocument/2006/relationships/image" Target="../media/image22.pn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8.png"/><Relationship Id="rId24" Type="http://schemas.openxmlformats.org/officeDocument/2006/relationships/image" Target="../media/image38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23" Type="http://schemas.openxmlformats.org/officeDocument/2006/relationships/image" Target="../media/image37.svg"/><Relationship Id="rId10" Type="http://schemas.openxmlformats.org/officeDocument/2006/relationships/image" Target="../media/image25.svg"/><Relationship Id="rId19" Type="http://schemas.openxmlformats.org/officeDocument/2006/relationships/image" Target="../media/image33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8.svg"/><Relationship Id="rId22" Type="http://schemas.openxmlformats.org/officeDocument/2006/relationships/image" Target="../media/image36.png"/><Relationship Id="rId27" Type="http://schemas.openxmlformats.org/officeDocument/2006/relationships/image" Target="../media/image4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8.png"/><Relationship Id="rId21" Type="http://schemas.openxmlformats.org/officeDocument/2006/relationships/image" Target="../media/image35.svg"/><Relationship Id="rId7" Type="http://schemas.openxmlformats.org/officeDocument/2006/relationships/image" Target="../media/image22.pn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8.png"/><Relationship Id="rId24" Type="http://schemas.openxmlformats.org/officeDocument/2006/relationships/image" Target="../media/image38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23" Type="http://schemas.openxmlformats.org/officeDocument/2006/relationships/image" Target="../media/image37.svg"/><Relationship Id="rId10" Type="http://schemas.openxmlformats.org/officeDocument/2006/relationships/image" Target="../media/image25.svg"/><Relationship Id="rId19" Type="http://schemas.openxmlformats.org/officeDocument/2006/relationships/image" Target="../media/image33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8.svg"/><Relationship Id="rId22" Type="http://schemas.openxmlformats.org/officeDocument/2006/relationships/image" Target="../media/image36.png"/><Relationship Id="rId27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18.png"/><Relationship Id="rId21" Type="http://schemas.openxmlformats.org/officeDocument/2006/relationships/image" Target="../media/image35.svg"/><Relationship Id="rId7" Type="http://schemas.openxmlformats.org/officeDocument/2006/relationships/image" Target="../media/image22.pn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8.png"/><Relationship Id="rId24" Type="http://schemas.openxmlformats.org/officeDocument/2006/relationships/image" Target="../media/image38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23" Type="http://schemas.openxmlformats.org/officeDocument/2006/relationships/image" Target="../media/image37.svg"/><Relationship Id="rId10" Type="http://schemas.openxmlformats.org/officeDocument/2006/relationships/image" Target="../media/image25.svg"/><Relationship Id="rId19" Type="http://schemas.openxmlformats.org/officeDocument/2006/relationships/image" Target="../media/image33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8.svg"/><Relationship Id="rId22" Type="http://schemas.openxmlformats.org/officeDocument/2006/relationships/image" Target="../media/image36.png"/><Relationship Id="rId27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5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53.png"/><Relationship Id="rId5" Type="http://schemas.openxmlformats.org/officeDocument/2006/relationships/image" Target="../media/image8.png"/><Relationship Id="rId15" Type="http://schemas.openxmlformats.org/officeDocument/2006/relationships/image" Target="../media/image56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6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44506-58BA-3F0C-7817-EB62DEBC8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1779" y="775604"/>
            <a:ext cx="9388442" cy="1247460"/>
          </a:xfrm>
        </p:spPr>
        <p:txBody>
          <a:bodyPr>
            <a:noAutofit/>
          </a:bodyPr>
          <a:lstStyle/>
          <a:p>
            <a:r>
              <a:rPr kumimoji="1" lang="en-US" altLang="ko-KR" i="1" dirty="0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Bavisitter</a:t>
            </a:r>
            <a:r>
              <a:rPr kumimoji="1" lang="en-US" altLang="ko-KR" dirty="0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:</a:t>
            </a:r>
            <a:r>
              <a:rPr kumimoji="1" lang="en-US" altLang="ko-KR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kumimoji="1" lang="en-US" altLang="ko-KR" sz="2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>
              <a:latin typeface="Open Sans" pitchFamily="2" charset="0"/>
              <a:cs typeface="Open Sans" pitchFamily="2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F7306E2-3173-2F0A-EF47-B3ADED2DF54B}"/>
              </a:ext>
            </a:extLst>
          </p:cNvPr>
          <p:cNvGrpSpPr/>
          <p:nvPr/>
        </p:nvGrpSpPr>
        <p:grpSpPr>
          <a:xfrm>
            <a:off x="2351991" y="3617968"/>
            <a:ext cx="2047356" cy="672857"/>
            <a:chOff x="3626096" y="4079793"/>
            <a:chExt cx="2047356" cy="67285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774777-19AC-080E-81C6-1652533660BA}"/>
                </a:ext>
              </a:extLst>
            </p:cNvPr>
            <p:cNvSpPr txBox="1"/>
            <p:nvPr/>
          </p:nvSpPr>
          <p:spPr>
            <a:xfrm>
              <a:off x="3985168" y="4079793"/>
              <a:ext cx="1329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b="1" i="1" dirty="0" err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Jiwon</a:t>
              </a:r>
              <a:r>
                <a:rPr kumimoji="1" lang="en-US" altLang="ko-Kore-KR" b="1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 Choi</a:t>
              </a:r>
              <a:endParaRPr kumimoji="1" lang="ko-Kore-KR" altLang="en-US" b="1" i="1">
                <a:latin typeface="Open Sans" pitchFamily="2" charset="0"/>
                <a:ea typeface="Pretendard SemiBold" panose="02000503000000020004" pitchFamily="2" charset="-127"/>
                <a:cs typeface="Open Sans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1A630E-F73C-4D36-C78F-948E92FD00C0}"/>
                </a:ext>
              </a:extLst>
            </p:cNvPr>
            <p:cNvSpPr txBox="1"/>
            <p:nvPr/>
          </p:nvSpPr>
          <p:spPr>
            <a:xfrm>
              <a:off x="3626096" y="4414096"/>
              <a:ext cx="20473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16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jiwnchoi@skku.edu</a:t>
              </a:r>
              <a:endParaRPr kumimoji="1" lang="ko-Kore-KR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Pretendard Medium" panose="02000503000000020004" pitchFamily="2" charset="-127"/>
                <a:cs typeface="Open Sans" pitchFamily="2" charset="0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3BD1E1A-6EA0-7B93-D004-4C808B1EB7CC}"/>
              </a:ext>
            </a:extLst>
          </p:cNvPr>
          <p:cNvGrpSpPr/>
          <p:nvPr/>
        </p:nvGrpSpPr>
        <p:grpSpPr>
          <a:xfrm>
            <a:off x="7987961" y="3565009"/>
            <a:ext cx="1646606" cy="725816"/>
            <a:chOff x="7123690" y="4079793"/>
            <a:chExt cx="1646606" cy="72581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27A4FA-4146-72A3-18A7-0593EB447DC8}"/>
                </a:ext>
              </a:extLst>
            </p:cNvPr>
            <p:cNvSpPr txBox="1"/>
            <p:nvPr/>
          </p:nvSpPr>
          <p:spPr>
            <a:xfrm>
              <a:off x="7378568" y="4079793"/>
              <a:ext cx="11368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i="1" dirty="0" err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Jaemin</a:t>
              </a:r>
              <a:r>
                <a:rPr kumimoji="1" lang="en-US" altLang="ko-Kore-KR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 Jo</a:t>
              </a:r>
              <a:endParaRPr kumimoji="1" lang="ko-Kore-KR" altLang="en-US" i="1">
                <a:latin typeface="Open Sans" pitchFamily="2" charset="0"/>
                <a:ea typeface="Pretendard SemiBold" panose="02000503000000020004" pitchFamily="2" charset="-127"/>
                <a:cs typeface="Open Sans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250DD5-4311-A914-22E6-44F9C671890E}"/>
                </a:ext>
              </a:extLst>
            </p:cNvPr>
            <p:cNvSpPr txBox="1"/>
            <p:nvPr/>
          </p:nvSpPr>
          <p:spPr>
            <a:xfrm>
              <a:off x="7123690" y="4467055"/>
              <a:ext cx="16466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en-US" sz="16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jmjo@skku.edu</a:t>
              </a:r>
              <a:endParaRPr kumimoji="1" lang="ko-Kore-KR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Pretendard Medium" panose="02000503000000020004" pitchFamily="2" charset="-127"/>
                <a:cs typeface="Open Sans" pitchFamily="2" charset="0"/>
              </a:endParaRPr>
            </a:p>
          </p:txBody>
        </p:sp>
      </p:grpSp>
      <p:pic>
        <p:nvPicPr>
          <p:cNvPr id="10" name="그림 9" descr="사람, 나무, 인간의 얼굴, 의류이(가) 표시된 사진&#10;&#10;자동 생성된 설명">
            <a:extLst>
              <a:ext uri="{FF2B5EF4-FFF2-40B4-BE49-F238E27FC236}">
                <a16:creationId xmlns:a16="http://schemas.microsoft.com/office/drawing/2014/main" id="{2E2C2634-7847-4BCB-FB95-56A000FCB7F4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0040" t="1140" r="21955" b="37580"/>
          <a:stretch/>
        </p:blipFill>
        <p:spPr>
          <a:xfrm>
            <a:off x="2840739" y="2349000"/>
            <a:ext cx="1080000" cy="1080000"/>
          </a:xfrm>
          <a:prstGeom prst="ellipse">
            <a:avLst/>
          </a:prstGeom>
        </p:spPr>
      </p:pic>
      <p:pic>
        <p:nvPicPr>
          <p:cNvPr id="12" name="그림 11" descr="인간의 얼굴, 사람, 의류, 턱이(가) 표시된 사진&#10;&#10;자동 생성된 설명">
            <a:extLst>
              <a:ext uri="{FF2B5EF4-FFF2-40B4-BE49-F238E27FC236}">
                <a16:creationId xmlns:a16="http://schemas.microsoft.com/office/drawing/2014/main" id="{34D5BED4-F010-14BF-0AE5-DB3B15F13024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t="4695" b="13796"/>
          <a:stretch/>
        </p:blipFill>
        <p:spPr>
          <a:xfrm>
            <a:off x="8271261" y="2349000"/>
            <a:ext cx="1080000" cy="1080000"/>
          </a:xfrm>
          <a:prstGeom prst="ellipse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ACE24C93-F594-802D-95F9-70632F5C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</a:t>
            </a:fld>
            <a:endParaRPr kumimoji="1"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C0FC0-3AE3-DD0C-B597-3C6C7708D2C1}"/>
              </a:ext>
            </a:extLst>
          </p:cNvPr>
          <p:cNvSpPr txBox="1"/>
          <p:nvPr/>
        </p:nvSpPr>
        <p:spPr>
          <a:xfrm>
            <a:off x="3606543" y="4883678"/>
            <a:ext cx="5347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b="1" dirty="0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Sungkyunkwan University, Republic of Korea</a:t>
            </a:r>
            <a:endParaRPr kumimoji="1" lang="ko-Kore-KR" altLang="en-US" b="1">
              <a:solidFill>
                <a:srgbClr val="004B7D"/>
              </a:solidFill>
              <a:latin typeface="Open Sans" pitchFamily="2" charset="0"/>
              <a:ea typeface="Pretendard SemiBold" panose="02000503000000020004" pitchFamily="2" charset="-127"/>
              <a:cs typeface="Open Sans" pitchFamily="2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69E468D-2AB2-8B40-37F6-90C704B41F7E}"/>
              </a:ext>
            </a:extLst>
          </p:cNvPr>
          <p:cNvGrpSpPr/>
          <p:nvPr/>
        </p:nvGrpSpPr>
        <p:grpSpPr>
          <a:xfrm>
            <a:off x="4919236" y="3617968"/>
            <a:ext cx="2353529" cy="672857"/>
            <a:chOff x="3473009" y="4079793"/>
            <a:chExt cx="2353529" cy="67285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9385BA8-892E-70D3-7601-946C61776097}"/>
                </a:ext>
              </a:extLst>
            </p:cNvPr>
            <p:cNvSpPr txBox="1"/>
            <p:nvPr/>
          </p:nvSpPr>
          <p:spPr>
            <a:xfrm>
              <a:off x="4010016" y="4079793"/>
              <a:ext cx="12795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i="1" dirty="0" err="1">
                  <a:latin typeface="Open Sans" pitchFamily="2" charset="0"/>
                  <a:ea typeface="Open Sans" pitchFamily="2" charset="0"/>
                  <a:cs typeface="Open Sans" pitchFamily="2" charset="0"/>
                </a:rPr>
                <a:t>Jaeung</a:t>
              </a:r>
              <a:r>
                <a:rPr kumimoji="1" lang="en-US" altLang="ko-Kore-KR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 Lee</a:t>
              </a:r>
              <a:endParaRPr kumimoji="1" lang="ko-Kore-KR" altLang="en-US" i="1">
                <a:latin typeface="Open Sans" pitchFamily="2" charset="0"/>
                <a:ea typeface="Pretendard SemiBold" panose="02000503000000020004" pitchFamily="2" charset="-127"/>
                <a:cs typeface="Open Sans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0E05518-FFD7-79CF-844F-1B84EA78D15D}"/>
                </a:ext>
              </a:extLst>
            </p:cNvPr>
            <p:cNvSpPr txBox="1"/>
            <p:nvPr/>
          </p:nvSpPr>
          <p:spPr>
            <a:xfrm>
              <a:off x="3473009" y="4414096"/>
              <a:ext cx="23535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dlwodnd00@skku.edu</a:t>
              </a:r>
              <a:endParaRPr kumimoji="1" lang="ko-Kore-KR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Pretendard Medium" panose="02000503000000020004" pitchFamily="2" charset="-127"/>
                <a:cs typeface="Open Sans" pitchFamily="2" charset="0"/>
              </a:endParaRP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1482CEC3-498D-BF50-F1F0-A5DA8C1D656D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1699" r="1699"/>
          <a:stretch/>
        </p:blipFill>
        <p:spPr>
          <a:xfrm>
            <a:off x="5556000" y="2349000"/>
            <a:ext cx="1080000" cy="1080000"/>
          </a:xfrm>
          <a:prstGeom prst="ellipse">
            <a:avLst/>
          </a:prstGeom>
        </p:spPr>
      </p:pic>
      <p:pic>
        <p:nvPicPr>
          <p:cNvPr id="1026" name="Picture 2" descr="VIS 2024 Logo">
            <a:extLst>
              <a:ext uri="{FF2B5EF4-FFF2-40B4-BE49-F238E27FC236}">
                <a16:creationId xmlns:a16="http://schemas.microsoft.com/office/drawing/2014/main" id="{C436B616-285D-4BFC-F3C4-B93E45FC0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672" y="5556535"/>
            <a:ext cx="2284656" cy="48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E664FA8D-D816-5713-7F65-41395E8FFFFC}"/>
              </a:ext>
            </a:extLst>
          </p:cNvPr>
          <p:cNvCxnSpPr>
            <a:cxnSpLocks/>
          </p:cNvCxnSpPr>
          <p:nvPr/>
        </p:nvCxnSpPr>
        <p:spPr>
          <a:xfrm>
            <a:off x="1156320" y="941645"/>
            <a:ext cx="0" cy="1012661"/>
          </a:xfrm>
          <a:prstGeom prst="line">
            <a:avLst/>
          </a:prstGeom>
          <a:ln w="57150">
            <a:solidFill>
              <a:srgbClr val="004B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바닥글 개체 틀 3">
            <a:extLst>
              <a:ext uri="{FF2B5EF4-FFF2-40B4-BE49-F238E27FC236}">
                <a16:creationId xmlns:a16="http://schemas.microsoft.com/office/drawing/2014/main" id="{01B8746D-25F7-7099-6596-C3E45B4C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0963" y="6605124"/>
            <a:ext cx="6630074" cy="228600"/>
          </a:xfrm>
        </p:spPr>
        <p:txBody>
          <a:bodyPr/>
          <a:lstStyle/>
          <a:p>
            <a:r>
              <a:rPr kumimoji="1" lang="en-US" altLang="ko-KR" b="1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Bavisitter: </a:t>
            </a:r>
            <a:r>
              <a:rPr kumimoji="1" lang="en-US" altLang="ko-KR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>
              <a:latin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3300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F56916-0A51-1BD1-2727-3E8453D8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</a:t>
            </a:fld>
            <a:endParaRPr kumimoji="1" lang="ko-KR" altLang="en-US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4D2B4744-D588-9A08-5DB3-FF260698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0963" y="6605124"/>
            <a:ext cx="6630074" cy="228600"/>
          </a:xfrm>
        </p:spPr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70F8558-D784-C182-CC65-5F99413EBD54}"/>
              </a:ext>
            </a:extLst>
          </p:cNvPr>
          <p:cNvGrpSpPr/>
          <p:nvPr/>
        </p:nvGrpSpPr>
        <p:grpSpPr>
          <a:xfrm>
            <a:off x="3277006" y="1458749"/>
            <a:ext cx="6134031" cy="3735228"/>
            <a:chOff x="3277006" y="1458749"/>
            <a:chExt cx="6134031" cy="3735228"/>
          </a:xfrm>
        </p:grpSpPr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0D476937-5C48-B460-CD0D-A7DC4D61C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89335" y="3552573"/>
              <a:ext cx="3921702" cy="1440000"/>
            </a:xfrm>
            <a:prstGeom prst="rect">
              <a:avLst/>
            </a:prstGeom>
          </p:spPr>
        </p:pic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DE8B2FE1-D417-715F-D9AD-028474000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71489" y="1458749"/>
              <a:ext cx="1417846" cy="1440000"/>
            </a:xfrm>
            <a:prstGeom prst="rect">
              <a:avLst/>
            </a:prstGeom>
          </p:spPr>
        </p:pic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44BB0538-DBEF-DD9A-14C0-D3859490C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77006" y="3753977"/>
              <a:ext cx="1588966" cy="1440000"/>
            </a:xfrm>
            <a:prstGeom prst="rect">
              <a:avLst/>
            </a:prstGeom>
          </p:spPr>
        </p:pic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F1C29A08-5BC4-A67B-16E8-CD9F31BA6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36502" y="1458749"/>
              <a:ext cx="2094546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5981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9FFC-8F25-BDA4-E894-4A9057BF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4BE2BF-127F-AF62-905A-2F551D38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3</a:t>
            </a:fld>
            <a:endParaRPr kumimoji="1" lang="ko-KR" altLang="en-US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6D804E17-D717-6A4D-9001-559469DB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0963" y="6605124"/>
            <a:ext cx="6630074" cy="228600"/>
          </a:xfrm>
        </p:spPr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61C9D-A624-C2B0-FB28-D99B3B9D304D}"/>
              </a:ext>
            </a:extLst>
          </p:cNvPr>
          <p:cNvSpPr txBox="1"/>
          <p:nvPr/>
        </p:nvSpPr>
        <p:spPr>
          <a:xfrm>
            <a:off x="6652900" y="2290911"/>
            <a:ext cx="4759636" cy="18405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Are they good for 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4000" b="1" dirty="0">
                <a:solidFill>
                  <a:schemeClr val="accent2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Visualization?</a:t>
            </a:r>
            <a:endParaRPr kumimoji="1" lang="ko-KR" altLang="en-US" sz="4000" b="1" dirty="0">
              <a:solidFill>
                <a:schemeClr val="accent2"/>
              </a:solidFill>
              <a:latin typeface="Open Sans" pitchFamily="2" charset="0"/>
              <a:cs typeface="Open Sans" pitchFamily="2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AA902AB-84BD-8E20-4C3E-7726495B617A}"/>
              </a:ext>
            </a:extLst>
          </p:cNvPr>
          <p:cNvGrpSpPr/>
          <p:nvPr/>
        </p:nvGrpSpPr>
        <p:grpSpPr>
          <a:xfrm>
            <a:off x="1283317" y="2015412"/>
            <a:ext cx="4642820" cy="2827176"/>
            <a:chOff x="3277006" y="1458749"/>
            <a:chExt cx="6134031" cy="3735228"/>
          </a:xfrm>
        </p:grpSpPr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B9B55AB0-1045-1DA6-02B7-4D27A03A5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89335" y="3552573"/>
              <a:ext cx="3921702" cy="1440000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D0505391-7A64-9C22-78CC-EEA3BE0775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71489" y="1458749"/>
              <a:ext cx="1417846" cy="1440000"/>
            </a:xfrm>
            <a:prstGeom prst="rect">
              <a:avLst/>
            </a:prstGeom>
          </p:spPr>
        </p:pic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FCBDCD50-4428-3621-7FFD-190F119AD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77006" y="3753977"/>
              <a:ext cx="1588966" cy="1440000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46CB6688-F29C-1DF1-36B1-035BF38F2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36502" y="1458749"/>
              <a:ext cx="2094546" cy="144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16687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569A-3259-3967-040A-EDBC2673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0E4981-CF48-3CE5-6D4F-6FB76A69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4</a:t>
            </a:fld>
            <a:endParaRPr kumimoji="1" lang="ko-KR" altLang="en-US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3BB3F6F1-AD33-1B6C-391B-C9C1D38D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0963" y="6605124"/>
            <a:ext cx="6630074" cy="228600"/>
          </a:xfrm>
        </p:spPr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48F43-45B4-9E28-743B-93797CFFA463}"/>
              </a:ext>
            </a:extLst>
          </p:cNvPr>
          <p:cNvSpPr txBox="1"/>
          <p:nvPr/>
        </p:nvSpPr>
        <p:spPr>
          <a:xfrm>
            <a:off x="4313236" y="6112976"/>
            <a:ext cx="356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LLM-generated visualizations, gpt-4-turbo-1106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Open Sans" pitchFamily="2" charset="0"/>
              <a:cs typeface="Open Sans" pitchFamily="2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62A8DDF-D84F-9268-84B8-8AF89FE1B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04340"/>
            <a:ext cx="7772400" cy="560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30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B41A-59B6-903E-2726-E4DE0F8B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724284-30DF-E4B7-87B2-02A289C9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5</a:t>
            </a:fld>
            <a:endParaRPr kumimoji="1" lang="ko-KR" altLang="en-US"/>
          </a:p>
        </p:txBody>
      </p:sp>
      <p:sp>
        <p:nvSpPr>
          <p:cNvPr id="6" name="바닥글 개체 틀 3">
            <a:extLst>
              <a:ext uri="{FF2B5EF4-FFF2-40B4-BE49-F238E27FC236}">
                <a16:creationId xmlns:a16="http://schemas.microsoft.com/office/drawing/2014/main" id="{A2598F22-6DDA-968A-75DA-3D3502C17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0963" y="6605124"/>
            <a:ext cx="6630074" cy="228600"/>
          </a:xfrm>
        </p:spPr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EEF6E3-91A6-CD24-74CD-DF0B35AAC6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81" t="1897" r="1052" b="2970"/>
          <a:stretch/>
        </p:blipFill>
        <p:spPr>
          <a:xfrm>
            <a:off x="2250742" y="382772"/>
            <a:ext cx="7687340" cy="54226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19704A-EC41-F831-95A7-633DFC6EF8BD}"/>
              </a:ext>
            </a:extLst>
          </p:cNvPr>
          <p:cNvSpPr txBox="1"/>
          <p:nvPr/>
        </p:nvSpPr>
        <p:spPr>
          <a:xfrm>
            <a:off x="4313236" y="6112976"/>
            <a:ext cx="356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LLM-generated visualizations, gpt-4-turbo-1106</a:t>
            </a:r>
            <a:endParaRPr kumimoji="1" lang="ko-KR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001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2D71FF-02DD-5AF9-C984-45F0846C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F79F9E-C832-63D5-C57F-D9702EAF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6</a:t>
            </a:fld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7D54B-01FE-4035-A9E4-9AE10514A7C2}"/>
              </a:ext>
            </a:extLst>
          </p:cNvPr>
          <p:cNvSpPr txBox="1"/>
          <p:nvPr/>
        </p:nvSpPr>
        <p:spPr>
          <a:xfrm>
            <a:off x="3918857" y="12129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241" name="그림 240">
            <a:extLst>
              <a:ext uri="{FF2B5EF4-FFF2-40B4-BE49-F238E27FC236}">
                <a16:creationId xmlns:a16="http://schemas.microsoft.com/office/drawing/2014/main" id="{C511CFFD-2743-001D-74D3-B260D36F82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776" y="1471105"/>
            <a:ext cx="10966448" cy="345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819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E1505-EAF1-2489-38D4-6FF34DB89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6" name="v-short-1064_Preview">
            <a:hlinkClick r:id="" action="ppaction://media"/>
            <a:extLst>
              <a:ext uri="{FF2B5EF4-FFF2-40B4-BE49-F238E27FC236}">
                <a16:creationId xmlns:a16="http://schemas.microsoft.com/office/drawing/2014/main" id="{40016F04-92CB-E073-883F-35CFEF3B759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354563"/>
            <a:ext cx="12148843" cy="6833724"/>
          </a:xfr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B66192-E26E-60A2-A401-A656F157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3FA541-EE4E-F24A-6F82-FD09700E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7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6677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5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3B2C2-07A5-0048-6581-5FE1615A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B2F877-56DD-D2D7-5C2D-23469A80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124311-E4E7-7308-91D1-BC1ED78C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8</a:t>
            </a:fld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6890902-A781-1951-DC4E-0B6B9C034AC2}"/>
              </a:ext>
            </a:extLst>
          </p:cNvPr>
          <p:cNvGrpSpPr/>
          <p:nvPr/>
        </p:nvGrpSpPr>
        <p:grpSpPr>
          <a:xfrm>
            <a:off x="508092" y="453674"/>
            <a:ext cx="27926271" cy="5558657"/>
            <a:chOff x="-7991964" y="453674"/>
            <a:chExt cx="27926271" cy="555865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BFAA5B6-52E7-E1A8-B92E-41C8B026930F}"/>
                </a:ext>
              </a:extLst>
            </p:cNvPr>
            <p:cNvGrpSpPr/>
            <p:nvPr/>
          </p:nvGrpSpPr>
          <p:grpSpPr>
            <a:xfrm>
              <a:off x="11939056" y="2007040"/>
              <a:ext cx="7995251" cy="3043893"/>
              <a:chOff x="3382884" y="2007040"/>
              <a:chExt cx="7995251" cy="3043893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37671B56-1E57-E7C2-C434-E2F877D624BB}"/>
                  </a:ext>
                </a:extLst>
              </p:cNvPr>
              <p:cNvGrpSpPr/>
              <p:nvPr/>
            </p:nvGrpSpPr>
            <p:grpSpPr>
              <a:xfrm>
                <a:off x="5227253" y="2007040"/>
                <a:ext cx="6150882" cy="1174555"/>
                <a:chOff x="3220179" y="3643537"/>
                <a:chExt cx="6150882" cy="1174555"/>
              </a:xfrm>
            </p:grpSpPr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6FA221A6-9F6D-993E-1332-88ED14019503}"/>
                    </a:ext>
                  </a:extLst>
                </p:cNvPr>
                <p:cNvSpPr txBox="1"/>
                <p:nvPr/>
              </p:nvSpPr>
              <p:spPr>
                <a:xfrm>
                  <a:off x="3360442" y="4230815"/>
                  <a:ext cx="1899879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Effectiveness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A315AD42-A760-82DE-8437-B64C4F4CD7E4}"/>
                    </a:ext>
                  </a:extLst>
                </p:cNvPr>
                <p:cNvSpPr txBox="1"/>
                <p:nvPr/>
              </p:nvSpPr>
              <p:spPr>
                <a:xfrm>
                  <a:off x="5498174" y="3884081"/>
                  <a:ext cx="1635383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Perception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02F2E2E-663E-5F5D-82B4-D44A78DA1B20}"/>
                    </a:ext>
                  </a:extLst>
                </p:cNvPr>
                <p:cNvSpPr txBox="1"/>
                <p:nvPr/>
              </p:nvSpPr>
              <p:spPr>
                <a:xfrm>
                  <a:off x="7168215" y="3643537"/>
                  <a:ext cx="2202846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Interpretability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314E82F-D422-7659-B59A-EE65E1D293C6}"/>
                    </a:ext>
                  </a:extLst>
                </p:cNvPr>
                <p:cNvSpPr txBox="1"/>
                <p:nvPr/>
              </p:nvSpPr>
              <p:spPr>
                <a:xfrm>
                  <a:off x="7582592" y="4230815"/>
                  <a:ext cx="1374094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Legibility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3B29B01-21CB-8766-E2D5-7B22D11B084B}"/>
                    </a:ext>
                  </a:extLst>
                </p:cNvPr>
                <p:cNvSpPr txBox="1"/>
                <p:nvPr/>
              </p:nvSpPr>
              <p:spPr>
                <a:xfrm>
                  <a:off x="3220179" y="3643538"/>
                  <a:ext cx="2180405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Expressiveness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68CE42D-000A-23CE-76D3-6071D1FCD67A}"/>
                  </a:ext>
                </a:extLst>
              </p:cNvPr>
              <p:cNvSpPr txBox="1"/>
              <p:nvPr/>
            </p:nvSpPr>
            <p:spPr>
              <a:xfrm>
                <a:off x="6522400" y="4084450"/>
                <a:ext cx="3560590" cy="966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 Types of Design Issue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based on Visualization Theory</a:t>
                </a:r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0D910C28-9DEF-A6C1-C29E-0FE0A04444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9825" y="3479519"/>
                <a:ext cx="1111318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C574D35-0977-4BE6-1EEB-5E4EDC0BC7BA}"/>
                  </a:ext>
                </a:extLst>
              </p:cNvPr>
              <p:cNvSpPr txBox="1"/>
              <p:nvPr/>
            </p:nvSpPr>
            <p:spPr>
              <a:xfrm>
                <a:off x="3382884" y="2840968"/>
                <a:ext cx="1313181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Thematic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Analysis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84BD851-E0C8-0EE0-7DCF-2B9A8942C97F}"/>
                </a:ext>
              </a:extLst>
            </p:cNvPr>
            <p:cNvGrpSpPr/>
            <p:nvPr/>
          </p:nvGrpSpPr>
          <p:grpSpPr>
            <a:xfrm>
              <a:off x="3203985" y="1344274"/>
              <a:ext cx="8497218" cy="3956773"/>
              <a:chOff x="3157971" y="1344274"/>
              <a:chExt cx="8497218" cy="3956773"/>
            </a:xfrm>
          </p:grpSpPr>
          <p:cxnSp>
            <p:nvCxnSpPr>
              <p:cNvPr id="26" name="직선 화살표 연결선 25">
                <a:extLst>
                  <a:ext uri="{FF2B5EF4-FFF2-40B4-BE49-F238E27FC236}">
                    <a16:creationId xmlns:a16="http://schemas.microsoft.com/office/drawing/2014/main" id="{FA81B543-F930-3735-CD0D-6E5C3B9D65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0912" y="3479519"/>
                <a:ext cx="951048" cy="0"/>
              </a:xfrm>
              <a:prstGeom prst="straightConnector1">
                <a:avLst/>
              </a:prstGeom>
              <a:ln w="57150">
                <a:solidFill>
                  <a:srgbClr val="FF7F0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5DA97E-D1A4-EB78-D030-3D93AEF25A66}"/>
                  </a:ext>
                </a:extLst>
              </p:cNvPr>
              <p:cNvSpPr txBox="1"/>
              <p:nvPr/>
            </p:nvSpPr>
            <p:spPr>
              <a:xfrm>
                <a:off x="4675982" y="3752546"/>
                <a:ext cx="2468946" cy="925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200 Visualizations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with 24 chart types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cxnSp>
            <p:nvCxnSpPr>
              <p:cNvPr id="28" name="직선 화살표 연결선 27">
                <a:extLst>
                  <a:ext uri="{FF2B5EF4-FFF2-40B4-BE49-F238E27FC236}">
                    <a16:creationId xmlns:a16="http://schemas.microsoft.com/office/drawing/2014/main" id="{387ED5A7-AAD2-D068-6C15-7C1D8862D8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1783" y="3479519"/>
                <a:ext cx="1111318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664EAF4-5464-3F5D-CEC4-858C889F10C1}"/>
                  </a:ext>
                </a:extLst>
              </p:cNvPr>
              <p:cNvSpPr txBox="1"/>
              <p:nvPr/>
            </p:nvSpPr>
            <p:spPr>
              <a:xfrm>
                <a:off x="8953424" y="3960295"/>
                <a:ext cx="2701765" cy="1340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23 Unique Issues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from </a:t>
                </a:r>
                <a:r>
                  <a:rPr kumimoji="1" lang="en-US" altLang="ko-KR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104</a:t>
                </a: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/ 200 improper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visualizations</a:t>
                </a:r>
              </a:p>
            </p:txBody>
          </p:sp>
          <p:pic>
            <p:nvPicPr>
              <p:cNvPr id="30" name="그래픽 29">
                <a:extLst>
                  <a:ext uri="{FF2B5EF4-FFF2-40B4-BE49-F238E27FC236}">
                    <a16:creationId xmlns:a16="http://schemas.microsoft.com/office/drawing/2014/main" id="{75E765BF-846A-0B70-8E3B-632AEADF0C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34895" y="2274356"/>
                <a:ext cx="1325531" cy="1325531"/>
              </a:xfrm>
              <a:prstGeom prst="rect">
                <a:avLst/>
              </a:prstGeom>
            </p:spPr>
          </p:pic>
          <p:pic>
            <p:nvPicPr>
              <p:cNvPr id="31" name="그래픽 30">
                <a:extLst>
                  <a:ext uri="{FF2B5EF4-FFF2-40B4-BE49-F238E27FC236}">
                    <a16:creationId xmlns:a16="http://schemas.microsoft.com/office/drawing/2014/main" id="{8F0231D4-BE8B-E297-472B-0CEDB52A02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13676" y="1344274"/>
                <a:ext cx="1325532" cy="1325532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7A8038-69A1-2ECC-057B-135916F00E62}"/>
                  </a:ext>
                </a:extLst>
              </p:cNvPr>
              <p:cNvSpPr txBox="1"/>
              <p:nvPr/>
            </p:nvSpPr>
            <p:spPr>
              <a:xfrm>
                <a:off x="3157971" y="2807259"/>
                <a:ext cx="1183337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Random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Sample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D95503-9FAB-BF1F-393B-89B57D993B3D}"/>
                  </a:ext>
                </a:extLst>
              </p:cNvPr>
              <p:cNvSpPr txBox="1"/>
              <p:nvPr/>
            </p:nvSpPr>
            <p:spPr>
              <a:xfrm rot="2620185">
                <a:off x="8977588" y="2796859"/>
                <a:ext cx="162095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wrong-title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mark-overplotted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no-legend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…</a:t>
                </a:r>
                <a:endParaRPr kumimoji="1"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DEF52D-55E1-7703-BB69-B33B95B64D88}"/>
                  </a:ext>
                </a:extLst>
              </p:cNvPr>
              <p:cNvSpPr txBox="1"/>
              <p:nvPr/>
            </p:nvSpPr>
            <p:spPr>
              <a:xfrm>
                <a:off x="7464842" y="2846258"/>
                <a:ext cx="1313181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Annotate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Manually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EE37C1B5-B424-96E8-31DD-2C8780272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738935" y="1566349"/>
                <a:ext cx="784860" cy="784860"/>
              </a:xfrm>
              <a:prstGeom prst="rect">
                <a:avLst/>
              </a:prstGeom>
            </p:spPr>
          </p:pic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A5E6C595-0575-FF80-4988-FF603FC29073}"/>
                  </a:ext>
                </a:extLst>
              </p:cNvPr>
              <p:cNvSpPr/>
              <p:nvPr/>
            </p:nvSpPr>
            <p:spPr>
              <a:xfrm>
                <a:off x="10738935" y="2016658"/>
                <a:ext cx="354199" cy="3345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E76F0A28-4667-4138-BB23-4EC4ED91D9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123311" y="1934880"/>
                <a:ext cx="1065240" cy="1065240"/>
              </a:xfrm>
              <a:prstGeom prst="rect">
                <a:avLst/>
              </a:prstGeom>
            </p:spPr>
          </p:pic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98A9273-1489-B5BF-2984-3B2EA036442D}"/>
                </a:ext>
              </a:extLst>
            </p:cNvPr>
            <p:cNvGrpSpPr/>
            <p:nvPr/>
          </p:nvGrpSpPr>
          <p:grpSpPr>
            <a:xfrm>
              <a:off x="-7991964" y="453674"/>
              <a:ext cx="11314452" cy="5558657"/>
              <a:chOff x="569891" y="453674"/>
              <a:chExt cx="11314452" cy="555865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7B4879-26EA-ACA4-E57C-5A70565C8FE9}"/>
                  </a:ext>
                </a:extLst>
              </p:cNvPr>
              <p:cNvSpPr txBox="1"/>
              <p:nvPr/>
            </p:nvSpPr>
            <p:spPr>
              <a:xfrm>
                <a:off x="8702062" y="3752546"/>
                <a:ext cx="3182281" cy="1294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590 LLM-generated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Visualizations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10 visualizations per dataset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9" name="그래픽 8">
                <a:extLst>
                  <a:ext uri="{FF2B5EF4-FFF2-40B4-BE49-F238E27FC236}">
                    <a16:creationId xmlns:a16="http://schemas.microsoft.com/office/drawing/2014/main" id="{F86EEA46-2620-D430-121A-6048E37C8A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89502" y="1816911"/>
                <a:ext cx="934716" cy="934716"/>
              </a:xfrm>
              <a:prstGeom prst="rect">
                <a:avLst/>
              </a:prstGeom>
            </p:spPr>
          </p:pic>
          <p:pic>
            <p:nvPicPr>
              <p:cNvPr id="10" name="내용 개체 틀 8">
                <a:extLst>
                  <a:ext uri="{FF2B5EF4-FFF2-40B4-BE49-F238E27FC236}">
                    <a16:creationId xmlns:a16="http://schemas.microsoft.com/office/drawing/2014/main" id="{4D0FB66B-FF9F-B8D9-1D49-370BF0542A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213405" y="453674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277FF98-5A5F-706D-641D-EEAD1EBC084E}"/>
                  </a:ext>
                </a:extLst>
              </p:cNvPr>
              <p:cNvSpPr txBox="1"/>
              <p:nvPr/>
            </p:nvSpPr>
            <p:spPr>
              <a:xfrm>
                <a:off x="569891" y="1934880"/>
                <a:ext cx="2727029" cy="925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59 Tabular Datasets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from Vega Datasets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12" name="그래픽 11">
                <a:extLst>
                  <a:ext uri="{FF2B5EF4-FFF2-40B4-BE49-F238E27FC236}">
                    <a16:creationId xmlns:a16="http://schemas.microsoft.com/office/drawing/2014/main" id="{DF3FED07-96A1-0D46-B041-CBFE75894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335484" y="1670851"/>
                <a:ext cx="1608118" cy="1633244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5063A78-9211-8031-8A94-03D25E57F45A}"/>
                  </a:ext>
                </a:extLst>
              </p:cNvPr>
              <p:cNvSpPr txBox="1"/>
              <p:nvPr/>
            </p:nvSpPr>
            <p:spPr>
              <a:xfrm>
                <a:off x="5258533" y="3600491"/>
                <a:ext cx="1762021" cy="14380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8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LLM</a:t>
                </a:r>
                <a:endParaRPr kumimoji="1" lang="en-US" altLang="ko-KR" sz="2000" b="1" dirty="0"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16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gpt-4-turbo-1106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16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with Assistant API</a:t>
                </a:r>
                <a:endParaRPr kumimoji="1" lang="ko-KR" altLang="en-US" sz="1600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14" name="그래픽 13">
                <a:extLst>
                  <a:ext uri="{FF2B5EF4-FFF2-40B4-BE49-F238E27FC236}">
                    <a16:creationId xmlns:a16="http://schemas.microsoft.com/office/drawing/2014/main" id="{33ACDD27-D107-5271-0051-F26E15F584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32066" y="3479519"/>
                <a:ext cx="1440000" cy="1440000"/>
              </a:xfrm>
              <a:prstGeom prst="rect">
                <a:avLst/>
              </a:prstGeom>
            </p:spPr>
          </p:pic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E0E01273-06E7-6B40-03FF-6499E9A7C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341" y="3479519"/>
                <a:ext cx="1328057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F7479AB7-2053-9FBA-55BC-F61BBB14A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4015" y="3479519"/>
                <a:ext cx="1215554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그림 16" descr="텍스트, 폰트, 스크린샷, 라인이(가) 표시된 사진&#10;&#10;자동 생성된 설명">
                <a:extLst>
                  <a:ext uri="{FF2B5EF4-FFF2-40B4-BE49-F238E27FC236}">
                    <a16:creationId xmlns:a16="http://schemas.microsoft.com/office/drawing/2014/main" id="{2A1A6164-D169-36C7-6030-1CC745B277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2605" y="5047131"/>
                <a:ext cx="2641600" cy="965200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648B2128-6265-395B-3119-2825C9DC70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971964" y="2242374"/>
                <a:ext cx="446354" cy="446354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1478251E-D87B-0C90-3342-9F849A2A9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9892362" y="1257447"/>
                <a:ext cx="824948" cy="824948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B74F07C4-723E-BBD5-8B38-CC8AB102B5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15552" y="1589961"/>
                <a:ext cx="453899" cy="453899"/>
              </a:xfrm>
              <a:prstGeom prst="rect">
                <a:avLst/>
              </a:prstGeom>
            </p:spPr>
          </p:pic>
          <p:pic>
            <p:nvPicPr>
              <p:cNvPr id="21" name="그래픽 20">
                <a:extLst>
                  <a:ext uri="{FF2B5EF4-FFF2-40B4-BE49-F238E27FC236}">
                    <a16:creationId xmlns:a16="http://schemas.microsoft.com/office/drawing/2014/main" id="{2F67CDFF-3509-1CF7-EB2B-73999567A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9360426" y="2898617"/>
                <a:ext cx="433277" cy="433277"/>
              </a:xfrm>
              <a:prstGeom prst="rect">
                <a:avLst/>
              </a:prstGeom>
            </p:spPr>
          </p:pic>
          <p:pic>
            <p:nvPicPr>
              <p:cNvPr id="22" name="그래픽 21">
                <a:extLst>
                  <a:ext uri="{FF2B5EF4-FFF2-40B4-BE49-F238E27FC236}">
                    <a16:creationId xmlns:a16="http://schemas.microsoft.com/office/drawing/2014/main" id="{69B5E69B-943A-A145-6E6B-9EE221B07E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0578389" y="2751627"/>
                <a:ext cx="434731" cy="434731"/>
              </a:xfrm>
              <a:prstGeom prst="rect">
                <a:avLst/>
              </a:prstGeom>
            </p:spPr>
          </p:pic>
          <p:pic>
            <p:nvPicPr>
              <p:cNvPr id="23" name="그래픽 22">
                <a:extLst>
                  <a:ext uri="{FF2B5EF4-FFF2-40B4-BE49-F238E27FC236}">
                    <a16:creationId xmlns:a16="http://schemas.microsoft.com/office/drawing/2014/main" id="{7812ADC6-C0E1-A820-9921-7A7A7A6A1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9190315" y="2082395"/>
                <a:ext cx="702047" cy="702047"/>
              </a:xfrm>
              <a:prstGeom prst="rect">
                <a:avLst/>
              </a:prstGeom>
            </p:spPr>
          </p:pic>
          <p:pic>
            <p:nvPicPr>
              <p:cNvPr id="24" name="그래픽 23">
                <a:extLst>
                  <a:ext uri="{FF2B5EF4-FFF2-40B4-BE49-F238E27FC236}">
                    <a16:creationId xmlns:a16="http://schemas.microsoft.com/office/drawing/2014/main" id="{E871AE03-9218-B28F-B0B4-4B90CF612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9920181" y="2898617"/>
                <a:ext cx="815206" cy="815206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083680-6A7E-0EDE-804B-F695A363B991}"/>
                  </a:ext>
                </a:extLst>
              </p:cNvPr>
              <p:cNvSpPr txBox="1"/>
              <p:nvPr/>
            </p:nvSpPr>
            <p:spPr>
              <a:xfrm>
                <a:off x="5114262" y="5047131"/>
                <a:ext cx="1906292" cy="66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8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x 10 times</a:t>
                </a:r>
                <a:endParaRPr kumimoji="1" lang="ko-KR" altLang="en-US" sz="2400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0458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BA8018-5497-62E9-E476-C95C1D9A9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A91495-710B-BE1E-2B6C-AAE3068B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9</a:t>
            </a:fld>
            <a:endParaRPr kumimoji="1"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BF22DBC-98B2-5503-65EA-6EBAE1D7A564}"/>
              </a:ext>
            </a:extLst>
          </p:cNvPr>
          <p:cNvGrpSpPr/>
          <p:nvPr/>
        </p:nvGrpSpPr>
        <p:grpSpPr>
          <a:xfrm>
            <a:off x="-7991964" y="453674"/>
            <a:ext cx="27926271" cy="5558657"/>
            <a:chOff x="-7991964" y="453674"/>
            <a:chExt cx="27926271" cy="5558657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D45903E2-2096-60EB-BCC2-6A2F66A80697}"/>
                </a:ext>
              </a:extLst>
            </p:cNvPr>
            <p:cNvGrpSpPr/>
            <p:nvPr/>
          </p:nvGrpSpPr>
          <p:grpSpPr>
            <a:xfrm>
              <a:off x="11939056" y="2007040"/>
              <a:ext cx="7995251" cy="3043893"/>
              <a:chOff x="3382884" y="2007040"/>
              <a:chExt cx="7995251" cy="3043893"/>
            </a:xfrm>
          </p:grpSpPr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D408B9D8-9869-96CC-18AE-A78EAE1DD51A}"/>
                  </a:ext>
                </a:extLst>
              </p:cNvPr>
              <p:cNvGrpSpPr/>
              <p:nvPr/>
            </p:nvGrpSpPr>
            <p:grpSpPr>
              <a:xfrm>
                <a:off x="5227253" y="2007040"/>
                <a:ext cx="6150882" cy="1174555"/>
                <a:chOff x="3220179" y="3643537"/>
                <a:chExt cx="6150882" cy="1174555"/>
              </a:xfrm>
            </p:grpSpPr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26BBC0E5-7E78-B67D-EB40-C2CF08673EE5}"/>
                    </a:ext>
                  </a:extLst>
                </p:cNvPr>
                <p:cNvSpPr txBox="1"/>
                <p:nvPr/>
              </p:nvSpPr>
              <p:spPr>
                <a:xfrm>
                  <a:off x="3360442" y="4230815"/>
                  <a:ext cx="1899879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Effectiveness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A14580E8-E27E-7AF6-612A-181A70E3CFC9}"/>
                    </a:ext>
                  </a:extLst>
                </p:cNvPr>
                <p:cNvSpPr txBox="1"/>
                <p:nvPr/>
              </p:nvSpPr>
              <p:spPr>
                <a:xfrm>
                  <a:off x="5498174" y="3884081"/>
                  <a:ext cx="1635383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Perception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A1F91875-32AA-31F7-1674-E1AFAB11AF24}"/>
                    </a:ext>
                  </a:extLst>
                </p:cNvPr>
                <p:cNvSpPr txBox="1"/>
                <p:nvPr/>
              </p:nvSpPr>
              <p:spPr>
                <a:xfrm>
                  <a:off x="7168215" y="3643537"/>
                  <a:ext cx="2202846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Interpretability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F0DD79D4-83BB-78F5-76CE-7E2AFEE99FA0}"/>
                    </a:ext>
                  </a:extLst>
                </p:cNvPr>
                <p:cNvSpPr txBox="1"/>
                <p:nvPr/>
              </p:nvSpPr>
              <p:spPr>
                <a:xfrm>
                  <a:off x="7582592" y="4230815"/>
                  <a:ext cx="1374094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Legibility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402116F0-745A-FDEC-D9FC-7DEE714A8E71}"/>
                    </a:ext>
                  </a:extLst>
                </p:cNvPr>
                <p:cNvSpPr txBox="1"/>
                <p:nvPr/>
              </p:nvSpPr>
              <p:spPr>
                <a:xfrm>
                  <a:off x="3220179" y="3643538"/>
                  <a:ext cx="2180405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Expressiveness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</p:grp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7D819791-2981-16E7-2748-927A4A1AC195}"/>
                  </a:ext>
                </a:extLst>
              </p:cNvPr>
              <p:cNvSpPr txBox="1"/>
              <p:nvPr/>
            </p:nvSpPr>
            <p:spPr>
              <a:xfrm>
                <a:off x="6522400" y="4084450"/>
                <a:ext cx="3560590" cy="966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 Types of Design Issue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based on Visualization Theory</a:t>
                </a:r>
              </a:p>
            </p:txBody>
          </p:sp>
          <p:cxnSp>
            <p:nvCxnSpPr>
              <p:cNvPr id="167" name="직선 화살표 연결선 166">
                <a:extLst>
                  <a:ext uri="{FF2B5EF4-FFF2-40B4-BE49-F238E27FC236}">
                    <a16:creationId xmlns:a16="http://schemas.microsoft.com/office/drawing/2014/main" id="{B445F2D7-993A-BD5D-7207-48479DBB71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9825" y="3479519"/>
                <a:ext cx="1111318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98254E1D-E635-BFAA-DF46-0E0EEF37CA39}"/>
                  </a:ext>
                </a:extLst>
              </p:cNvPr>
              <p:cNvSpPr txBox="1"/>
              <p:nvPr/>
            </p:nvSpPr>
            <p:spPr>
              <a:xfrm>
                <a:off x="3382884" y="2840968"/>
                <a:ext cx="1313181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Thematic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Analysis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3F256FFE-B272-39B7-3E58-E9CF8C5110FC}"/>
                </a:ext>
              </a:extLst>
            </p:cNvPr>
            <p:cNvGrpSpPr/>
            <p:nvPr/>
          </p:nvGrpSpPr>
          <p:grpSpPr>
            <a:xfrm>
              <a:off x="3203985" y="1344274"/>
              <a:ext cx="8497218" cy="3956773"/>
              <a:chOff x="3157971" y="1344274"/>
              <a:chExt cx="8497218" cy="3956773"/>
            </a:xfrm>
          </p:grpSpPr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5D61F0F2-1AB9-5F65-2968-9C718235B5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0912" y="3479519"/>
                <a:ext cx="951048" cy="0"/>
              </a:xfrm>
              <a:prstGeom prst="straightConnector1">
                <a:avLst/>
              </a:prstGeom>
              <a:ln w="57150">
                <a:solidFill>
                  <a:srgbClr val="FF7F0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B456297F-72BC-37CE-02FE-B73F43225558}"/>
                  </a:ext>
                </a:extLst>
              </p:cNvPr>
              <p:cNvSpPr txBox="1"/>
              <p:nvPr/>
            </p:nvSpPr>
            <p:spPr>
              <a:xfrm>
                <a:off x="4675982" y="3752546"/>
                <a:ext cx="2468946" cy="925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200 Visualizations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with 24 chart types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cxnSp>
            <p:nvCxnSpPr>
              <p:cNvPr id="177" name="직선 화살표 연결선 176">
                <a:extLst>
                  <a:ext uri="{FF2B5EF4-FFF2-40B4-BE49-F238E27FC236}">
                    <a16:creationId xmlns:a16="http://schemas.microsoft.com/office/drawing/2014/main" id="{6BDE9EC1-9E80-9177-49FB-3C7955073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1783" y="3479519"/>
                <a:ext cx="1111318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4BBE76C9-BE2F-2661-85CB-9B7FA9364157}"/>
                  </a:ext>
                </a:extLst>
              </p:cNvPr>
              <p:cNvSpPr txBox="1"/>
              <p:nvPr/>
            </p:nvSpPr>
            <p:spPr>
              <a:xfrm>
                <a:off x="8953424" y="3960295"/>
                <a:ext cx="2701765" cy="1340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23 Unique Issues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from </a:t>
                </a:r>
                <a:r>
                  <a:rPr kumimoji="1" lang="en-US" altLang="ko-KR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104</a:t>
                </a: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/ 200 improper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visualizations</a:t>
                </a:r>
              </a:p>
            </p:txBody>
          </p:sp>
          <p:pic>
            <p:nvPicPr>
              <p:cNvPr id="179" name="그래픽 178">
                <a:extLst>
                  <a:ext uri="{FF2B5EF4-FFF2-40B4-BE49-F238E27FC236}">
                    <a16:creationId xmlns:a16="http://schemas.microsoft.com/office/drawing/2014/main" id="{C66AF3C0-78A0-8ACE-B67C-DABF5B877F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34895" y="2274356"/>
                <a:ext cx="1325531" cy="1325531"/>
              </a:xfrm>
              <a:prstGeom prst="rect">
                <a:avLst/>
              </a:prstGeom>
            </p:spPr>
          </p:pic>
          <p:pic>
            <p:nvPicPr>
              <p:cNvPr id="180" name="그래픽 179">
                <a:extLst>
                  <a:ext uri="{FF2B5EF4-FFF2-40B4-BE49-F238E27FC236}">
                    <a16:creationId xmlns:a16="http://schemas.microsoft.com/office/drawing/2014/main" id="{7026DD29-D1B9-95B2-AF29-1BF8D0755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13676" y="1344274"/>
                <a:ext cx="1325532" cy="1325532"/>
              </a:xfrm>
              <a:prstGeom prst="rect">
                <a:avLst/>
              </a:prstGeom>
            </p:spPr>
          </p:pic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C52EA716-1A42-2271-EC41-E6E1E766EF3F}"/>
                  </a:ext>
                </a:extLst>
              </p:cNvPr>
              <p:cNvSpPr txBox="1"/>
              <p:nvPr/>
            </p:nvSpPr>
            <p:spPr>
              <a:xfrm>
                <a:off x="3157971" y="2807259"/>
                <a:ext cx="1183337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Random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Sample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DD8957D-24BE-C90B-4FE6-43001A0DBE00}"/>
                  </a:ext>
                </a:extLst>
              </p:cNvPr>
              <p:cNvSpPr txBox="1"/>
              <p:nvPr/>
            </p:nvSpPr>
            <p:spPr>
              <a:xfrm rot="2620185">
                <a:off x="8977588" y="2796859"/>
                <a:ext cx="162095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wrong-title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mark-overplotted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no-legend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…</a:t>
                </a:r>
                <a:endParaRPr kumimoji="1"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02682D39-3358-7AEB-5CA8-4494B523B79F}"/>
                  </a:ext>
                </a:extLst>
              </p:cNvPr>
              <p:cNvSpPr txBox="1"/>
              <p:nvPr/>
            </p:nvSpPr>
            <p:spPr>
              <a:xfrm>
                <a:off x="7464842" y="2846258"/>
                <a:ext cx="1313181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Annotate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Manually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184" name="그래픽 183">
                <a:extLst>
                  <a:ext uri="{FF2B5EF4-FFF2-40B4-BE49-F238E27FC236}">
                    <a16:creationId xmlns:a16="http://schemas.microsoft.com/office/drawing/2014/main" id="{6D84818B-85EB-8EDB-A8D9-9B89AF20F5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738935" y="1566349"/>
                <a:ext cx="784860" cy="784860"/>
              </a:xfrm>
              <a:prstGeom prst="rect">
                <a:avLst/>
              </a:prstGeom>
            </p:spPr>
          </p:pic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B087BF8B-D4EB-55CF-1860-F0EC18C4E543}"/>
                  </a:ext>
                </a:extLst>
              </p:cNvPr>
              <p:cNvSpPr/>
              <p:nvPr/>
            </p:nvSpPr>
            <p:spPr>
              <a:xfrm>
                <a:off x="10738935" y="2016658"/>
                <a:ext cx="354199" cy="3345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186" name="그래픽 185">
                <a:extLst>
                  <a:ext uri="{FF2B5EF4-FFF2-40B4-BE49-F238E27FC236}">
                    <a16:creationId xmlns:a16="http://schemas.microsoft.com/office/drawing/2014/main" id="{D3BB3EA0-4095-E958-95CC-0F29FF58F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123311" y="1934880"/>
                <a:ext cx="1065240" cy="1065240"/>
              </a:xfrm>
              <a:prstGeom prst="rect">
                <a:avLst/>
              </a:prstGeom>
            </p:spPr>
          </p:pic>
        </p:grpSp>
        <p:grpSp>
          <p:nvGrpSpPr>
            <p:cNvPr id="187" name="그룹 186">
              <a:extLst>
                <a:ext uri="{FF2B5EF4-FFF2-40B4-BE49-F238E27FC236}">
                  <a16:creationId xmlns:a16="http://schemas.microsoft.com/office/drawing/2014/main" id="{D20764C3-3524-D1E6-E7D4-663AE65272D2}"/>
                </a:ext>
              </a:extLst>
            </p:cNvPr>
            <p:cNvGrpSpPr/>
            <p:nvPr/>
          </p:nvGrpSpPr>
          <p:grpSpPr>
            <a:xfrm>
              <a:off x="-7991964" y="453674"/>
              <a:ext cx="11314452" cy="5558657"/>
              <a:chOff x="569891" y="453674"/>
              <a:chExt cx="11314452" cy="5558657"/>
            </a:xfrm>
          </p:grpSpPr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6E24E00B-4CFB-8ED4-AB5F-7F001919218A}"/>
                  </a:ext>
                </a:extLst>
              </p:cNvPr>
              <p:cNvSpPr txBox="1"/>
              <p:nvPr/>
            </p:nvSpPr>
            <p:spPr>
              <a:xfrm>
                <a:off x="8702062" y="3752546"/>
                <a:ext cx="3182281" cy="1294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590 LLM-generated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Visualizations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10 visualizations per dataset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189" name="그래픽 188">
                <a:extLst>
                  <a:ext uri="{FF2B5EF4-FFF2-40B4-BE49-F238E27FC236}">
                    <a16:creationId xmlns:a16="http://schemas.microsoft.com/office/drawing/2014/main" id="{043F16A7-085C-835C-62ED-7BB2A8F0AA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89502" y="1816911"/>
                <a:ext cx="934716" cy="934716"/>
              </a:xfrm>
              <a:prstGeom prst="rect">
                <a:avLst/>
              </a:prstGeom>
            </p:spPr>
          </p:pic>
          <p:pic>
            <p:nvPicPr>
              <p:cNvPr id="190" name="내용 개체 틀 8">
                <a:extLst>
                  <a:ext uri="{FF2B5EF4-FFF2-40B4-BE49-F238E27FC236}">
                    <a16:creationId xmlns:a16="http://schemas.microsoft.com/office/drawing/2014/main" id="{94D3E327-D14A-95C5-D529-2672C24308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213405" y="453674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356BE3CA-87FB-8F11-7F16-3A0228A438FD}"/>
                  </a:ext>
                </a:extLst>
              </p:cNvPr>
              <p:cNvSpPr txBox="1"/>
              <p:nvPr/>
            </p:nvSpPr>
            <p:spPr>
              <a:xfrm>
                <a:off x="569891" y="1934880"/>
                <a:ext cx="2727029" cy="925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59 Tabular Datasets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from Vega Datasets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192" name="그래픽 191">
                <a:extLst>
                  <a:ext uri="{FF2B5EF4-FFF2-40B4-BE49-F238E27FC236}">
                    <a16:creationId xmlns:a16="http://schemas.microsoft.com/office/drawing/2014/main" id="{8053CCA4-4AE4-0668-C1BB-21292E951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335484" y="1670851"/>
                <a:ext cx="1608118" cy="1633244"/>
              </a:xfrm>
              <a:prstGeom prst="rect">
                <a:avLst/>
              </a:prstGeom>
            </p:spPr>
          </p:pic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A451C85-E2A1-55B8-358E-35380C83B2CA}"/>
                  </a:ext>
                </a:extLst>
              </p:cNvPr>
              <p:cNvSpPr txBox="1"/>
              <p:nvPr/>
            </p:nvSpPr>
            <p:spPr>
              <a:xfrm>
                <a:off x="5258533" y="3600491"/>
                <a:ext cx="1762021" cy="14380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8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LLM</a:t>
                </a:r>
                <a:endParaRPr kumimoji="1" lang="en-US" altLang="ko-KR" sz="2000" b="1" dirty="0"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16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gpt-4-turbo-1106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16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with Assistant API</a:t>
                </a:r>
                <a:endParaRPr kumimoji="1" lang="ko-KR" altLang="en-US" sz="1600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194" name="그래픽 193">
                <a:extLst>
                  <a:ext uri="{FF2B5EF4-FFF2-40B4-BE49-F238E27FC236}">
                    <a16:creationId xmlns:a16="http://schemas.microsoft.com/office/drawing/2014/main" id="{5F5FA0E6-4771-EE33-6F42-87E3B713D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32066" y="3479519"/>
                <a:ext cx="1440000" cy="1440000"/>
              </a:xfrm>
              <a:prstGeom prst="rect">
                <a:avLst/>
              </a:prstGeom>
            </p:spPr>
          </p:pic>
          <p:cxnSp>
            <p:nvCxnSpPr>
              <p:cNvPr id="195" name="직선 화살표 연결선 194">
                <a:extLst>
                  <a:ext uri="{FF2B5EF4-FFF2-40B4-BE49-F238E27FC236}">
                    <a16:creationId xmlns:a16="http://schemas.microsoft.com/office/drawing/2014/main" id="{F8CE45ED-FE6F-1D71-1E2D-DE934CC6D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341" y="3479519"/>
                <a:ext cx="1328057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화살표 연결선 195">
                <a:extLst>
                  <a:ext uri="{FF2B5EF4-FFF2-40B4-BE49-F238E27FC236}">
                    <a16:creationId xmlns:a16="http://schemas.microsoft.com/office/drawing/2014/main" id="{C9886E8E-6E0A-1A50-0D82-791FFE94C7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4015" y="3479519"/>
                <a:ext cx="1215554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7" name="그림 196" descr="텍스트, 폰트, 스크린샷, 라인이(가) 표시된 사진&#10;&#10;자동 생성된 설명">
                <a:extLst>
                  <a:ext uri="{FF2B5EF4-FFF2-40B4-BE49-F238E27FC236}">
                    <a16:creationId xmlns:a16="http://schemas.microsoft.com/office/drawing/2014/main" id="{8BC077F4-B7F7-D7C4-81FA-36067CF9E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2605" y="5047131"/>
                <a:ext cx="2641600" cy="965200"/>
              </a:xfrm>
              <a:prstGeom prst="rect">
                <a:avLst/>
              </a:prstGeom>
            </p:spPr>
          </p:pic>
          <p:pic>
            <p:nvPicPr>
              <p:cNvPr id="198" name="그래픽 197">
                <a:extLst>
                  <a:ext uri="{FF2B5EF4-FFF2-40B4-BE49-F238E27FC236}">
                    <a16:creationId xmlns:a16="http://schemas.microsoft.com/office/drawing/2014/main" id="{D9027488-47BA-E191-E069-12D51FB4A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971964" y="2242374"/>
                <a:ext cx="446354" cy="446354"/>
              </a:xfrm>
              <a:prstGeom prst="rect">
                <a:avLst/>
              </a:prstGeom>
            </p:spPr>
          </p:pic>
          <p:pic>
            <p:nvPicPr>
              <p:cNvPr id="199" name="그래픽 198">
                <a:extLst>
                  <a:ext uri="{FF2B5EF4-FFF2-40B4-BE49-F238E27FC236}">
                    <a16:creationId xmlns:a16="http://schemas.microsoft.com/office/drawing/2014/main" id="{44A9929C-CFE4-7CFB-4954-2D0B8429CE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9892362" y="1257447"/>
                <a:ext cx="824948" cy="824948"/>
              </a:xfrm>
              <a:prstGeom prst="rect">
                <a:avLst/>
              </a:prstGeom>
            </p:spPr>
          </p:pic>
          <p:pic>
            <p:nvPicPr>
              <p:cNvPr id="200" name="그래픽 199">
                <a:extLst>
                  <a:ext uri="{FF2B5EF4-FFF2-40B4-BE49-F238E27FC236}">
                    <a16:creationId xmlns:a16="http://schemas.microsoft.com/office/drawing/2014/main" id="{BE7648DE-E9DF-1A35-455A-623C06A6C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15552" y="1589961"/>
                <a:ext cx="453899" cy="453899"/>
              </a:xfrm>
              <a:prstGeom prst="rect">
                <a:avLst/>
              </a:prstGeom>
            </p:spPr>
          </p:pic>
          <p:pic>
            <p:nvPicPr>
              <p:cNvPr id="201" name="그래픽 200">
                <a:extLst>
                  <a:ext uri="{FF2B5EF4-FFF2-40B4-BE49-F238E27FC236}">
                    <a16:creationId xmlns:a16="http://schemas.microsoft.com/office/drawing/2014/main" id="{C0E8C556-35FC-DCD1-6F3B-596CBD935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9360426" y="2898617"/>
                <a:ext cx="433277" cy="433277"/>
              </a:xfrm>
              <a:prstGeom prst="rect">
                <a:avLst/>
              </a:prstGeom>
            </p:spPr>
          </p:pic>
          <p:pic>
            <p:nvPicPr>
              <p:cNvPr id="202" name="그래픽 201">
                <a:extLst>
                  <a:ext uri="{FF2B5EF4-FFF2-40B4-BE49-F238E27FC236}">
                    <a16:creationId xmlns:a16="http://schemas.microsoft.com/office/drawing/2014/main" id="{F240E1E3-CD09-96B8-4927-6D89CDD156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0578389" y="2751627"/>
                <a:ext cx="434731" cy="434731"/>
              </a:xfrm>
              <a:prstGeom prst="rect">
                <a:avLst/>
              </a:prstGeom>
            </p:spPr>
          </p:pic>
          <p:pic>
            <p:nvPicPr>
              <p:cNvPr id="203" name="그래픽 202">
                <a:extLst>
                  <a:ext uri="{FF2B5EF4-FFF2-40B4-BE49-F238E27FC236}">
                    <a16:creationId xmlns:a16="http://schemas.microsoft.com/office/drawing/2014/main" id="{7BF23EE4-C341-52B2-7FD4-A15E7ED8D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9190315" y="2082395"/>
                <a:ext cx="702047" cy="702047"/>
              </a:xfrm>
              <a:prstGeom prst="rect">
                <a:avLst/>
              </a:prstGeom>
            </p:spPr>
          </p:pic>
          <p:pic>
            <p:nvPicPr>
              <p:cNvPr id="204" name="그래픽 203">
                <a:extLst>
                  <a:ext uri="{FF2B5EF4-FFF2-40B4-BE49-F238E27FC236}">
                    <a16:creationId xmlns:a16="http://schemas.microsoft.com/office/drawing/2014/main" id="{30DECA6D-963E-B528-46E7-AA72E0CBA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9920181" y="2898617"/>
                <a:ext cx="815206" cy="815206"/>
              </a:xfrm>
              <a:prstGeom prst="rect">
                <a:avLst/>
              </a:prstGeom>
            </p:spPr>
          </p:pic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A3F34E3-86F2-0C10-B6B9-1154986978C0}"/>
                  </a:ext>
                </a:extLst>
              </p:cNvPr>
              <p:cNvSpPr txBox="1"/>
              <p:nvPr/>
            </p:nvSpPr>
            <p:spPr>
              <a:xfrm>
                <a:off x="5114262" y="5047131"/>
                <a:ext cx="1906292" cy="66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8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x 10 times</a:t>
                </a:r>
                <a:endParaRPr kumimoji="1" lang="ko-KR" altLang="en-US" sz="2400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89673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783D-7449-03D4-C90D-2C3E467F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C0F1E9-2905-DDC2-6901-5A52066F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0F5DB5-415B-218A-5ABE-3AB75079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10</a:t>
            </a:fld>
            <a:endParaRPr kumimoji="1"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2259441-3594-390A-1383-5A875A75C6AF}"/>
              </a:ext>
            </a:extLst>
          </p:cNvPr>
          <p:cNvGrpSpPr/>
          <p:nvPr/>
        </p:nvGrpSpPr>
        <p:grpSpPr>
          <a:xfrm>
            <a:off x="-16277041" y="492310"/>
            <a:ext cx="27926271" cy="5558657"/>
            <a:chOff x="-7991964" y="453674"/>
            <a:chExt cx="27926271" cy="5558657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8B458ED7-D3DD-7163-32CB-D806CA289B08}"/>
                </a:ext>
              </a:extLst>
            </p:cNvPr>
            <p:cNvGrpSpPr/>
            <p:nvPr/>
          </p:nvGrpSpPr>
          <p:grpSpPr>
            <a:xfrm>
              <a:off x="11939056" y="2007040"/>
              <a:ext cx="7995251" cy="3043893"/>
              <a:chOff x="3382884" y="2007040"/>
              <a:chExt cx="7995251" cy="3043893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B9408BFB-6E96-6022-3D0F-A471F3C242B8}"/>
                  </a:ext>
                </a:extLst>
              </p:cNvPr>
              <p:cNvGrpSpPr/>
              <p:nvPr/>
            </p:nvGrpSpPr>
            <p:grpSpPr>
              <a:xfrm>
                <a:off x="5227253" y="2007040"/>
                <a:ext cx="6150882" cy="1174555"/>
                <a:chOff x="3220179" y="3643537"/>
                <a:chExt cx="6150882" cy="1174555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70B02EF2-6862-8476-3302-58B8AE50301A}"/>
                    </a:ext>
                  </a:extLst>
                </p:cNvPr>
                <p:cNvSpPr txBox="1"/>
                <p:nvPr/>
              </p:nvSpPr>
              <p:spPr>
                <a:xfrm>
                  <a:off x="3360442" y="4230815"/>
                  <a:ext cx="1899879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Effectiveness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AAC9CE9C-A940-4D32-BE95-6F65CFDE76E4}"/>
                    </a:ext>
                  </a:extLst>
                </p:cNvPr>
                <p:cNvSpPr txBox="1"/>
                <p:nvPr/>
              </p:nvSpPr>
              <p:spPr>
                <a:xfrm>
                  <a:off x="5498174" y="3884081"/>
                  <a:ext cx="1635383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Perception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9D97B67-FF61-2436-B732-C168AFA6171D}"/>
                    </a:ext>
                  </a:extLst>
                </p:cNvPr>
                <p:cNvSpPr txBox="1"/>
                <p:nvPr/>
              </p:nvSpPr>
              <p:spPr>
                <a:xfrm>
                  <a:off x="7168215" y="3643537"/>
                  <a:ext cx="2202846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Interpretability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5B3B049-007D-81C8-0D86-8BBB9D504F02}"/>
                    </a:ext>
                  </a:extLst>
                </p:cNvPr>
                <p:cNvSpPr txBox="1"/>
                <p:nvPr/>
              </p:nvSpPr>
              <p:spPr>
                <a:xfrm>
                  <a:off x="7582592" y="4230815"/>
                  <a:ext cx="1374094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Legibility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78DCCF0-364F-07CE-C7ED-AEDE9AB614B0}"/>
                    </a:ext>
                  </a:extLst>
                </p:cNvPr>
                <p:cNvSpPr txBox="1"/>
                <p:nvPr/>
              </p:nvSpPr>
              <p:spPr>
                <a:xfrm>
                  <a:off x="3220179" y="3643538"/>
                  <a:ext cx="2180405" cy="5872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kumimoji="1" lang="en-US" altLang="ko-KR" sz="2400" i="1" dirty="0">
                      <a:latin typeface="Open Sans" pitchFamily="2" charset="0"/>
                      <a:ea typeface="Open Sans" pitchFamily="2" charset="0"/>
                      <a:cs typeface="Open Sans" pitchFamily="2" charset="0"/>
                    </a:rPr>
                    <a:t>Expressiveness</a:t>
                  </a:r>
                  <a:endParaRPr kumimoji="1" lang="ko-KR" altLang="en-US" sz="1400" i="1" dirty="0">
                    <a:latin typeface="Open Sans" pitchFamily="2" charset="0"/>
                    <a:cs typeface="Open Sans" pitchFamily="2" charset="0"/>
                  </a:endParaRP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1C61F2F-F220-7622-D829-9A119D2EDF43}"/>
                  </a:ext>
                </a:extLst>
              </p:cNvPr>
              <p:cNvSpPr txBox="1"/>
              <p:nvPr/>
            </p:nvSpPr>
            <p:spPr>
              <a:xfrm>
                <a:off x="6522400" y="4084450"/>
                <a:ext cx="3560590" cy="966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 Types of Design Issue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based on Visualization Theory</a:t>
                </a:r>
              </a:p>
            </p:txBody>
          </p:sp>
          <p:cxnSp>
            <p:nvCxnSpPr>
              <p:cNvPr id="64" name="직선 화살표 연결선 63">
                <a:extLst>
                  <a:ext uri="{FF2B5EF4-FFF2-40B4-BE49-F238E27FC236}">
                    <a16:creationId xmlns:a16="http://schemas.microsoft.com/office/drawing/2014/main" id="{5C8580CA-3B10-7D68-B54F-22806828AE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9825" y="3479519"/>
                <a:ext cx="1111318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A45BEB3-5255-0BDA-19F2-966B5EE15B15}"/>
                  </a:ext>
                </a:extLst>
              </p:cNvPr>
              <p:cNvSpPr txBox="1"/>
              <p:nvPr/>
            </p:nvSpPr>
            <p:spPr>
              <a:xfrm>
                <a:off x="3382884" y="2840968"/>
                <a:ext cx="1313181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Thematic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Analysis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60CD382-1C15-E823-0F3E-A281E116EBC4}"/>
                </a:ext>
              </a:extLst>
            </p:cNvPr>
            <p:cNvGrpSpPr/>
            <p:nvPr/>
          </p:nvGrpSpPr>
          <p:grpSpPr>
            <a:xfrm>
              <a:off x="3203985" y="1344274"/>
              <a:ext cx="8497218" cy="3956773"/>
              <a:chOff x="3157971" y="1344274"/>
              <a:chExt cx="8497218" cy="3956773"/>
            </a:xfrm>
          </p:grpSpPr>
          <p:cxnSp>
            <p:nvCxnSpPr>
              <p:cNvPr id="50" name="직선 화살표 연결선 49">
                <a:extLst>
                  <a:ext uri="{FF2B5EF4-FFF2-40B4-BE49-F238E27FC236}">
                    <a16:creationId xmlns:a16="http://schemas.microsoft.com/office/drawing/2014/main" id="{29636F41-2F9A-9112-3C72-DEC357B4C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00912" y="3479519"/>
                <a:ext cx="951048" cy="0"/>
              </a:xfrm>
              <a:prstGeom prst="straightConnector1">
                <a:avLst/>
              </a:prstGeom>
              <a:ln w="57150">
                <a:solidFill>
                  <a:srgbClr val="FF7F0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855815E-F5C7-4B6E-5D91-4230CEF90A1A}"/>
                  </a:ext>
                </a:extLst>
              </p:cNvPr>
              <p:cNvSpPr txBox="1"/>
              <p:nvPr/>
            </p:nvSpPr>
            <p:spPr>
              <a:xfrm>
                <a:off x="4675982" y="3752546"/>
                <a:ext cx="2468946" cy="925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200 Visualizations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with 24 chart types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9FC31C9D-7D64-5390-0F4F-A78EF91F5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1783" y="3479519"/>
                <a:ext cx="1111318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D6E457-84C9-7918-EE60-FA2893D3D164}"/>
                  </a:ext>
                </a:extLst>
              </p:cNvPr>
              <p:cNvSpPr txBox="1"/>
              <p:nvPr/>
            </p:nvSpPr>
            <p:spPr>
              <a:xfrm>
                <a:off x="8953424" y="3960295"/>
                <a:ext cx="2701765" cy="13407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23 Unique Issues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from </a:t>
                </a:r>
                <a:r>
                  <a:rPr kumimoji="1" lang="en-US" altLang="ko-KR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104</a:t>
                </a: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/ 200 improper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visualizations</a:t>
                </a:r>
              </a:p>
            </p:txBody>
          </p:sp>
          <p:pic>
            <p:nvPicPr>
              <p:cNvPr id="54" name="그래픽 53">
                <a:extLst>
                  <a:ext uri="{FF2B5EF4-FFF2-40B4-BE49-F238E27FC236}">
                    <a16:creationId xmlns:a16="http://schemas.microsoft.com/office/drawing/2014/main" id="{CC4D0DE0-1C28-E553-D76C-AC616A764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634895" y="2274356"/>
                <a:ext cx="1325531" cy="1325531"/>
              </a:xfrm>
              <a:prstGeom prst="rect">
                <a:avLst/>
              </a:prstGeom>
            </p:spPr>
          </p:pic>
          <p:pic>
            <p:nvPicPr>
              <p:cNvPr id="55" name="그래픽 54">
                <a:extLst>
                  <a:ext uri="{FF2B5EF4-FFF2-40B4-BE49-F238E27FC236}">
                    <a16:creationId xmlns:a16="http://schemas.microsoft.com/office/drawing/2014/main" id="{5EF9932D-F897-599B-B60A-0782F66BBF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13676" y="1344274"/>
                <a:ext cx="1325532" cy="1325532"/>
              </a:xfrm>
              <a:prstGeom prst="rect">
                <a:avLst/>
              </a:prstGeom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A636908-4471-CAAB-ACD0-BDA34C56D12C}"/>
                  </a:ext>
                </a:extLst>
              </p:cNvPr>
              <p:cNvSpPr txBox="1"/>
              <p:nvPr/>
            </p:nvSpPr>
            <p:spPr>
              <a:xfrm>
                <a:off x="3157971" y="2807259"/>
                <a:ext cx="1183337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Random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Sample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0C1CEE4-1947-CAF5-7A01-C6EF5D8B8065}"/>
                  </a:ext>
                </a:extLst>
              </p:cNvPr>
              <p:cNvSpPr txBox="1"/>
              <p:nvPr/>
            </p:nvSpPr>
            <p:spPr>
              <a:xfrm rot="2620185">
                <a:off x="8977588" y="2796859"/>
                <a:ext cx="162095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wrong-title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mark-overplotted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no-legend</a:t>
                </a:r>
              </a:p>
              <a:p>
                <a:pPr algn="ctr"/>
                <a:r>
                  <a:rPr kumimoji="1"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…</a:t>
                </a:r>
                <a:endParaRPr kumimoji="1"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DE30147-51AE-2736-D531-277139B4E455}"/>
                  </a:ext>
                </a:extLst>
              </p:cNvPr>
              <p:cNvSpPr txBox="1"/>
              <p:nvPr/>
            </p:nvSpPr>
            <p:spPr>
              <a:xfrm>
                <a:off x="7464842" y="2846258"/>
                <a:ext cx="1313181" cy="1243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Annotate</a:t>
                </a:r>
              </a:p>
              <a:p>
                <a:pPr algn="ctr">
                  <a:lnSpc>
                    <a:spcPct val="150000"/>
                  </a:lnSpc>
                </a:pPr>
                <a:endParaRPr kumimoji="1" lang="en-US" altLang="ko-KR" sz="1200" b="1" i="1" dirty="0">
                  <a:solidFill>
                    <a:srgbClr val="FF7F0E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Manually</a:t>
                </a:r>
                <a:endParaRPr kumimoji="1" lang="ko-KR" altLang="en-US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59" name="그래픽 58">
                <a:extLst>
                  <a:ext uri="{FF2B5EF4-FFF2-40B4-BE49-F238E27FC236}">
                    <a16:creationId xmlns:a16="http://schemas.microsoft.com/office/drawing/2014/main" id="{EDD70232-3B0B-7233-DBDF-86ED9EA1A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738935" y="1566349"/>
                <a:ext cx="784860" cy="784860"/>
              </a:xfrm>
              <a:prstGeom prst="rect">
                <a:avLst/>
              </a:prstGeom>
            </p:spPr>
          </p:pic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0598FB02-F645-D0DD-1DFF-54B5C7234381}"/>
                  </a:ext>
                </a:extLst>
              </p:cNvPr>
              <p:cNvSpPr/>
              <p:nvPr/>
            </p:nvSpPr>
            <p:spPr>
              <a:xfrm>
                <a:off x="10738935" y="2016658"/>
                <a:ext cx="354199" cy="3345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pic>
            <p:nvPicPr>
              <p:cNvPr id="61" name="그래픽 60">
                <a:extLst>
                  <a:ext uri="{FF2B5EF4-FFF2-40B4-BE49-F238E27FC236}">
                    <a16:creationId xmlns:a16="http://schemas.microsoft.com/office/drawing/2014/main" id="{359810D7-E977-C215-EE15-D31F0B8BA7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123311" y="1934880"/>
                <a:ext cx="1065240" cy="1065240"/>
              </a:xfrm>
              <a:prstGeom prst="rect">
                <a:avLst/>
              </a:prstGeom>
            </p:spPr>
          </p:pic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2FC48B6D-6C34-9227-4A0D-4A359A43FB42}"/>
                </a:ext>
              </a:extLst>
            </p:cNvPr>
            <p:cNvGrpSpPr/>
            <p:nvPr/>
          </p:nvGrpSpPr>
          <p:grpSpPr>
            <a:xfrm>
              <a:off x="-7991964" y="453674"/>
              <a:ext cx="11314452" cy="5558657"/>
              <a:chOff x="569891" y="453674"/>
              <a:chExt cx="11314452" cy="555865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FC4F19E-CEB7-D9A7-B711-CB42484691E9}"/>
                  </a:ext>
                </a:extLst>
              </p:cNvPr>
              <p:cNvSpPr txBox="1"/>
              <p:nvPr/>
            </p:nvSpPr>
            <p:spPr>
              <a:xfrm>
                <a:off x="8702062" y="3752546"/>
                <a:ext cx="3182281" cy="1294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590 LLM-generated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Visualizations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10 visualizations per dataset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33" name="그래픽 32">
                <a:extLst>
                  <a:ext uri="{FF2B5EF4-FFF2-40B4-BE49-F238E27FC236}">
                    <a16:creationId xmlns:a16="http://schemas.microsoft.com/office/drawing/2014/main" id="{67826C27-3EB9-EE06-7A38-763A7C1B9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589502" y="1816911"/>
                <a:ext cx="934716" cy="934716"/>
              </a:xfrm>
              <a:prstGeom prst="rect">
                <a:avLst/>
              </a:prstGeom>
            </p:spPr>
          </p:pic>
          <p:pic>
            <p:nvPicPr>
              <p:cNvPr id="34" name="내용 개체 틀 8">
                <a:extLst>
                  <a:ext uri="{FF2B5EF4-FFF2-40B4-BE49-F238E27FC236}">
                    <a16:creationId xmlns:a16="http://schemas.microsoft.com/office/drawing/2014/main" id="{A2FD629D-7EE6-4889-593A-68780DB62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213405" y="453674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872B397-FF2D-0DAF-C481-9663B11FED14}"/>
                  </a:ext>
                </a:extLst>
              </p:cNvPr>
              <p:cNvSpPr txBox="1"/>
              <p:nvPr/>
            </p:nvSpPr>
            <p:spPr>
              <a:xfrm>
                <a:off x="569891" y="1934880"/>
                <a:ext cx="2727029" cy="925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0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59 Tabular Datasets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from Vega Datasets</a:t>
                </a:r>
                <a:endParaRPr kumimoji="1" lang="ko-KR" altLang="en-US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36" name="그래픽 35">
                <a:extLst>
                  <a:ext uri="{FF2B5EF4-FFF2-40B4-BE49-F238E27FC236}">
                    <a16:creationId xmlns:a16="http://schemas.microsoft.com/office/drawing/2014/main" id="{0FCD696B-1939-8C84-D01D-94E7C97E4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335484" y="1670851"/>
                <a:ext cx="1608118" cy="1633244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334DA90-B131-0C1A-AC10-2B138CD88E26}"/>
                  </a:ext>
                </a:extLst>
              </p:cNvPr>
              <p:cNvSpPr txBox="1"/>
              <p:nvPr/>
            </p:nvSpPr>
            <p:spPr>
              <a:xfrm>
                <a:off x="5258533" y="3600491"/>
                <a:ext cx="1762021" cy="14380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800" b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LLM</a:t>
                </a:r>
                <a:endParaRPr kumimoji="1" lang="en-US" altLang="ko-KR" sz="2000" b="1" dirty="0"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16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gpt-4-turbo-1106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kumimoji="1" lang="en-US" altLang="ko-KR" sz="1600" i="1" dirty="0"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with Assistant API</a:t>
                </a:r>
                <a:endParaRPr kumimoji="1" lang="ko-KR" altLang="en-US" sz="1600" i="1" dirty="0">
                  <a:latin typeface="Open Sans" pitchFamily="2" charset="0"/>
                  <a:cs typeface="Open Sans" pitchFamily="2" charset="0"/>
                </a:endParaRPr>
              </a:p>
            </p:txBody>
          </p:sp>
          <p:pic>
            <p:nvPicPr>
              <p:cNvPr id="38" name="그래픽 37">
                <a:extLst>
                  <a:ext uri="{FF2B5EF4-FFF2-40B4-BE49-F238E27FC236}">
                    <a16:creationId xmlns:a16="http://schemas.microsoft.com/office/drawing/2014/main" id="{8DB58CDD-16DA-6847-7DF7-F5B7AFE28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232066" y="3479519"/>
                <a:ext cx="1440000" cy="1440000"/>
              </a:xfrm>
              <a:prstGeom prst="rect">
                <a:avLst/>
              </a:prstGeom>
            </p:spPr>
          </p:pic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0482BF03-8875-7578-6B3E-8756DDF6C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341" y="3479519"/>
                <a:ext cx="1328057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928DC776-53C5-C42E-E937-300937130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64015" y="3479519"/>
                <a:ext cx="1215554" cy="0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그림 40" descr="텍스트, 폰트, 스크린샷, 라인이(가) 표시된 사진&#10;&#10;자동 생성된 설명">
                <a:extLst>
                  <a:ext uri="{FF2B5EF4-FFF2-40B4-BE49-F238E27FC236}">
                    <a16:creationId xmlns:a16="http://schemas.microsoft.com/office/drawing/2014/main" id="{C12F495D-D7AB-E601-DD02-660D3D4D3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2605" y="5047131"/>
                <a:ext cx="2641600" cy="965200"/>
              </a:xfrm>
              <a:prstGeom prst="rect">
                <a:avLst/>
              </a:prstGeom>
            </p:spPr>
          </p:pic>
          <p:pic>
            <p:nvPicPr>
              <p:cNvPr id="42" name="그래픽 41">
                <a:extLst>
                  <a:ext uri="{FF2B5EF4-FFF2-40B4-BE49-F238E27FC236}">
                    <a16:creationId xmlns:a16="http://schemas.microsoft.com/office/drawing/2014/main" id="{9B69C44E-66A1-3642-122D-A8F3E07638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971964" y="2242374"/>
                <a:ext cx="446354" cy="446354"/>
              </a:xfrm>
              <a:prstGeom prst="rect">
                <a:avLst/>
              </a:prstGeom>
            </p:spPr>
          </p:pic>
          <p:pic>
            <p:nvPicPr>
              <p:cNvPr id="43" name="그래픽 42">
                <a:extLst>
                  <a:ext uri="{FF2B5EF4-FFF2-40B4-BE49-F238E27FC236}">
                    <a16:creationId xmlns:a16="http://schemas.microsoft.com/office/drawing/2014/main" id="{0D805C2E-9A7C-9828-55DA-3A743D6D53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9892362" y="1257447"/>
                <a:ext cx="824948" cy="824948"/>
              </a:xfrm>
              <a:prstGeom prst="rect">
                <a:avLst/>
              </a:prstGeom>
            </p:spPr>
          </p:pic>
          <p:pic>
            <p:nvPicPr>
              <p:cNvPr id="44" name="그래픽 43">
                <a:extLst>
                  <a:ext uri="{FF2B5EF4-FFF2-40B4-BE49-F238E27FC236}">
                    <a16:creationId xmlns:a16="http://schemas.microsoft.com/office/drawing/2014/main" id="{ABD1D18E-780E-75FE-5008-7ED1C6691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15552" y="1589961"/>
                <a:ext cx="453899" cy="453899"/>
              </a:xfrm>
              <a:prstGeom prst="rect">
                <a:avLst/>
              </a:prstGeom>
            </p:spPr>
          </p:pic>
          <p:pic>
            <p:nvPicPr>
              <p:cNvPr id="45" name="그래픽 44">
                <a:extLst>
                  <a:ext uri="{FF2B5EF4-FFF2-40B4-BE49-F238E27FC236}">
                    <a16:creationId xmlns:a16="http://schemas.microsoft.com/office/drawing/2014/main" id="{899EFB02-5243-5D6C-E904-DFB44ECE1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9360426" y="2898617"/>
                <a:ext cx="433277" cy="433277"/>
              </a:xfrm>
              <a:prstGeom prst="rect">
                <a:avLst/>
              </a:prstGeom>
            </p:spPr>
          </p:pic>
          <p:pic>
            <p:nvPicPr>
              <p:cNvPr id="46" name="그래픽 45">
                <a:extLst>
                  <a:ext uri="{FF2B5EF4-FFF2-40B4-BE49-F238E27FC236}">
                    <a16:creationId xmlns:a16="http://schemas.microsoft.com/office/drawing/2014/main" id="{AE9C4B82-2DCF-04B4-464A-6680FF7D15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10578389" y="2751627"/>
                <a:ext cx="434731" cy="434731"/>
              </a:xfrm>
              <a:prstGeom prst="rect">
                <a:avLst/>
              </a:prstGeom>
            </p:spPr>
          </p:pic>
          <p:pic>
            <p:nvPicPr>
              <p:cNvPr id="47" name="그래픽 46">
                <a:extLst>
                  <a:ext uri="{FF2B5EF4-FFF2-40B4-BE49-F238E27FC236}">
                    <a16:creationId xmlns:a16="http://schemas.microsoft.com/office/drawing/2014/main" id="{E22EB8B7-A7E3-851A-E192-601F88284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9190315" y="2082395"/>
                <a:ext cx="702047" cy="702047"/>
              </a:xfrm>
              <a:prstGeom prst="rect">
                <a:avLst/>
              </a:prstGeom>
            </p:spPr>
          </p:pic>
          <p:pic>
            <p:nvPicPr>
              <p:cNvPr id="48" name="그래픽 47">
                <a:extLst>
                  <a:ext uri="{FF2B5EF4-FFF2-40B4-BE49-F238E27FC236}">
                    <a16:creationId xmlns:a16="http://schemas.microsoft.com/office/drawing/2014/main" id="{37E34545-4717-3F3E-8A68-0138070866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9920181" y="2898617"/>
                <a:ext cx="815206" cy="815206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9AED20F-1710-7944-D814-155E086FE26B}"/>
                  </a:ext>
                </a:extLst>
              </p:cNvPr>
              <p:cNvSpPr txBox="1"/>
              <p:nvPr/>
            </p:nvSpPr>
            <p:spPr>
              <a:xfrm>
                <a:off x="5114262" y="5047131"/>
                <a:ext cx="1906292" cy="6697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kumimoji="1" lang="en-US" altLang="ko-KR" sz="2800" b="1" i="1" dirty="0">
                    <a:solidFill>
                      <a:srgbClr val="FF7F0E"/>
                    </a:solidFill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x 10 times</a:t>
                </a:r>
                <a:endParaRPr kumimoji="1" lang="ko-KR" altLang="en-US" sz="2400" i="1" dirty="0">
                  <a:solidFill>
                    <a:srgbClr val="FF7F0E"/>
                  </a:solidFill>
                  <a:latin typeface="Open Sans" pitchFamily="2" charset="0"/>
                  <a:cs typeface="Open Sans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3092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1A0CB-10D7-BC20-13E5-5561DAA2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8E8CBE-A64F-223D-BFD7-93F760AC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278CFF-2886-083B-FE66-A2A690B3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11</a:t>
            </a:fld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8AE7D-8D07-D5CB-7BA2-9403DFF5ACB0}"/>
              </a:ext>
            </a:extLst>
          </p:cNvPr>
          <p:cNvSpPr txBox="1"/>
          <p:nvPr/>
        </p:nvSpPr>
        <p:spPr>
          <a:xfrm>
            <a:off x="2039418" y="2770935"/>
            <a:ext cx="1950406" cy="1316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8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8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CD3AC1-9873-8721-E471-F5515A4B26A5}"/>
              </a:ext>
            </a:extLst>
          </p:cNvPr>
          <p:cNvSpPr txBox="1"/>
          <p:nvPr/>
        </p:nvSpPr>
        <p:spPr>
          <a:xfrm>
            <a:off x="5221018" y="2770935"/>
            <a:ext cx="1907894" cy="1316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8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 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8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C0639-BD77-F74D-A28C-F77B92601859}"/>
              </a:ext>
            </a:extLst>
          </p:cNvPr>
          <p:cNvSpPr txBox="1"/>
          <p:nvPr/>
        </p:nvSpPr>
        <p:spPr>
          <a:xfrm>
            <a:off x="8360105" y="2770935"/>
            <a:ext cx="1792478" cy="1316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800" b="1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Resolving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800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801521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749D-64A2-4F74-F7C5-16C21ACA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6FEE410B-B1C6-DD02-9ED3-FA00DDE30D38}"/>
              </a:ext>
            </a:extLst>
          </p:cNvPr>
          <p:cNvGrpSpPr/>
          <p:nvPr/>
        </p:nvGrpSpPr>
        <p:grpSpPr>
          <a:xfrm>
            <a:off x="483830" y="1866138"/>
            <a:ext cx="5612170" cy="3706150"/>
            <a:chOff x="2367738" y="1709498"/>
            <a:chExt cx="6628388" cy="4377237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75695DB7-229D-099E-10C8-A373F5F15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67738" y="1709498"/>
              <a:ext cx="6628388" cy="4377237"/>
            </a:xfrm>
            <a:prstGeom prst="rect">
              <a:avLst/>
            </a:prstGeom>
          </p:spPr>
        </p:pic>
        <p:cxnSp>
          <p:nvCxnSpPr>
            <p:cNvPr id="54" name="직선 화살표 연결선 53">
              <a:extLst>
                <a:ext uri="{FF2B5EF4-FFF2-40B4-BE49-F238E27FC236}">
                  <a16:creationId xmlns:a16="http://schemas.microsoft.com/office/drawing/2014/main" id="{BC89420E-934C-95B8-2E89-940B7A39AD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9813" y="2201677"/>
              <a:ext cx="665922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D9F0D95F-32D4-54EE-534C-33C7236B5C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779" y="2201676"/>
              <a:ext cx="665922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" name="그림 55" descr="텍스트, 도표, 라인, 그래프이(가) 표시된 사진&#10;&#10;자동 생성된 설명">
              <a:extLst>
                <a:ext uri="{FF2B5EF4-FFF2-40B4-BE49-F238E27FC236}">
                  <a16:creationId xmlns:a16="http://schemas.microsoft.com/office/drawing/2014/main" id="{A9792BE5-DC58-E9CD-81B1-E09217FF0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906" y="3512724"/>
              <a:ext cx="2082800" cy="2235200"/>
            </a:xfrm>
            <a:prstGeom prst="rect">
              <a:avLst/>
            </a:prstGeom>
          </p:spPr>
        </p:pic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90033273-18BE-C8DA-FA97-DB0A11C6AD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6535" y="3997621"/>
              <a:ext cx="547201" cy="505156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F8C5C23-8F66-0279-37EF-F81BEED2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0C46286-024A-7491-6920-5EEC04F76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4DBB1A-30B5-9C38-BA84-A503E3BB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12</a:t>
            </a:fld>
            <a:endParaRPr kumimoji="1"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E7E536-B8FF-0A22-EB5F-74B363847C5B}"/>
              </a:ext>
            </a:extLst>
          </p:cNvPr>
          <p:cNvSpPr txBox="1"/>
          <p:nvPr/>
        </p:nvSpPr>
        <p:spPr>
          <a:xfrm>
            <a:off x="352309" y="1275881"/>
            <a:ext cx="1698158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6246A29-1A21-3AF4-0410-7A96A9556053}"/>
              </a:ext>
            </a:extLst>
          </p:cNvPr>
          <p:cNvCxnSpPr>
            <a:cxnSpLocks/>
          </p:cNvCxnSpPr>
          <p:nvPr/>
        </p:nvCxnSpPr>
        <p:spPr>
          <a:xfrm flipH="1" flipV="1">
            <a:off x="1713283" y="3719213"/>
            <a:ext cx="463308" cy="427709"/>
          </a:xfrm>
          <a:prstGeom prst="straightConnector1">
            <a:avLst/>
          </a:prstGeom>
          <a:ln w="57150">
            <a:solidFill>
              <a:srgbClr val="1E76B4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619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B08B4-D09F-424E-39E8-CE1A847B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A2A7B-902E-FE62-8338-1FDCA9CD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0992D9-C4E5-E402-AF3D-2D7D3678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B225CB-ED9B-D8E8-D7C5-3188CCD8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13</a:t>
            </a:fld>
            <a:endParaRPr kumimoji="1"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6C6830-0B2A-D141-266C-72CBD1F918A1}"/>
              </a:ext>
            </a:extLst>
          </p:cNvPr>
          <p:cNvGrpSpPr/>
          <p:nvPr/>
        </p:nvGrpSpPr>
        <p:grpSpPr>
          <a:xfrm>
            <a:off x="483830" y="1866138"/>
            <a:ext cx="5612170" cy="3706150"/>
            <a:chOff x="2367738" y="1709498"/>
            <a:chExt cx="6628388" cy="4377237"/>
          </a:xfrm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68661B26-8D01-18B3-9FB9-42AC4D2F9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67738" y="1709498"/>
              <a:ext cx="6628388" cy="4377237"/>
            </a:xfrm>
            <a:prstGeom prst="rect">
              <a:avLst/>
            </a:prstGeom>
          </p:spPr>
        </p:pic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B7DDC281-A1DB-30E6-32C3-B15605CAE1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9813" y="2201677"/>
              <a:ext cx="665922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F6180027-CE4F-D183-B60D-86FF65B90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779" y="2201676"/>
              <a:ext cx="665922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그림 37" descr="텍스트, 도표, 라인, 그래프이(가) 표시된 사진&#10;&#10;자동 생성된 설명">
              <a:extLst>
                <a:ext uri="{FF2B5EF4-FFF2-40B4-BE49-F238E27FC236}">
                  <a16:creationId xmlns:a16="http://schemas.microsoft.com/office/drawing/2014/main" id="{A76F1520-7201-1674-361D-3D5C4EEB1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906" y="3512724"/>
              <a:ext cx="2082800" cy="2235200"/>
            </a:xfrm>
            <a:prstGeom prst="rect">
              <a:avLst/>
            </a:prstGeom>
          </p:spPr>
        </p:pic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22EA8284-B13D-E507-5F98-44616A8381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6535" y="3997621"/>
              <a:ext cx="547201" cy="505156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5CEE22C-0741-7F86-D387-4372353C8DDE}"/>
              </a:ext>
            </a:extLst>
          </p:cNvPr>
          <p:cNvCxnSpPr>
            <a:cxnSpLocks/>
          </p:cNvCxnSpPr>
          <p:nvPr/>
        </p:nvCxnSpPr>
        <p:spPr>
          <a:xfrm flipH="1">
            <a:off x="4783936" y="4674891"/>
            <a:ext cx="1820173" cy="0"/>
          </a:xfrm>
          <a:prstGeom prst="straightConnector1">
            <a:avLst/>
          </a:prstGeom>
          <a:ln w="57150">
            <a:solidFill>
              <a:srgbClr val="FF7F0E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8D256AD-65B4-8004-7335-22C94B878F04}"/>
              </a:ext>
            </a:extLst>
          </p:cNvPr>
          <p:cNvSpPr txBox="1"/>
          <p:nvPr/>
        </p:nvSpPr>
        <p:spPr>
          <a:xfrm>
            <a:off x="352309" y="1275881"/>
            <a:ext cx="1698158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C1B85A-8501-F71B-56C1-5FEAF34FA600}"/>
              </a:ext>
            </a:extLst>
          </p:cNvPr>
          <p:cNvSpPr txBox="1"/>
          <p:nvPr/>
        </p:nvSpPr>
        <p:spPr>
          <a:xfrm>
            <a:off x="6673251" y="4016826"/>
            <a:ext cx="1582484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405438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17BB-6923-5031-7E53-91EA9D33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F9A93-B08F-7ED4-B6B2-20C374D3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D4C38A-615C-715A-2C0E-B1A70FE4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4AA9B7D-4250-E7A6-20F5-1513934F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14</a:t>
            </a:fld>
            <a:endParaRPr kumimoji="1"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FFF5B98-B8A6-4F7F-E5EF-472DD7C749FD}"/>
              </a:ext>
            </a:extLst>
          </p:cNvPr>
          <p:cNvGrpSpPr/>
          <p:nvPr/>
        </p:nvGrpSpPr>
        <p:grpSpPr>
          <a:xfrm>
            <a:off x="483830" y="1866138"/>
            <a:ext cx="5612170" cy="3706150"/>
            <a:chOff x="2367738" y="1709498"/>
            <a:chExt cx="6628388" cy="437723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8CAC0E1-7FA6-5154-809C-8E6B384AA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67738" y="1709498"/>
              <a:ext cx="6628388" cy="4377236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08BD126-40A9-5E72-6991-9C16BFED3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9813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8A5FB11B-A0DC-2FCB-18C0-1DB5882B72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779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 descr="텍스트, 도표, 라인, 그래프이(가) 표시된 사진&#10;&#10;자동 생성된 설명">
              <a:extLst>
                <a:ext uri="{FF2B5EF4-FFF2-40B4-BE49-F238E27FC236}">
                  <a16:creationId xmlns:a16="http://schemas.microsoft.com/office/drawing/2014/main" id="{D39E57F1-1990-6AC1-444E-9EDC985CA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905" y="3512724"/>
              <a:ext cx="2082800" cy="2235200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701102C5-2C1E-BEBF-3317-43CD12A451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6535" y="3997621"/>
              <a:ext cx="547201" cy="505156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837CF75-7678-6C9F-C3F7-72E58FBBE30E}"/>
              </a:ext>
            </a:extLst>
          </p:cNvPr>
          <p:cNvCxnSpPr>
            <a:cxnSpLocks/>
          </p:cNvCxnSpPr>
          <p:nvPr/>
        </p:nvCxnSpPr>
        <p:spPr>
          <a:xfrm flipH="1">
            <a:off x="4783936" y="4674891"/>
            <a:ext cx="1820173" cy="0"/>
          </a:xfrm>
          <a:prstGeom prst="straightConnector1">
            <a:avLst/>
          </a:prstGeom>
          <a:ln w="57150">
            <a:solidFill>
              <a:srgbClr val="FF7F0E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D49DA00-6DBA-A664-0D9A-53E54894241C}"/>
              </a:ext>
            </a:extLst>
          </p:cNvPr>
          <p:cNvSpPr txBox="1"/>
          <p:nvPr/>
        </p:nvSpPr>
        <p:spPr>
          <a:xfrm>
            <a:off x="8327410" y="450282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line-for-categorical</a:t>
            </a:r>
            <a:endParaRPr kumimoji="1"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C2D50-4961-17DF-C100-24C762EE3187}"/>
              </a:ext>
            </a:extLst>
          </p:cNvPr>
          <p:cNvSpPr txBox="1"/>
          <p:nvPr/>
        </p:nvSpPr>
        <p:spPr>
          <a:xfrm>
            <a:off x="6673251" y="4016826"/>
            <a:ext cx="1582484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A45B6-CB58-8808-F376-39E0D99780D8}"/>
              </a:ext>
            </a:extLst>
          </p:cNvPr>
          <p:cNvSpPr txBox="1"/>
          <p:nvPr/>
        </p:nvSpPr>
        <p:spPr>
          <a:xfrm>
            <a:off x="352309" y="1275881"/>
            <a:ext cx="1698158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100322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219F-D33E-A9C6-5CCF-A7D3FDD2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10879-2D49-18B4-C5BF-AB07C238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879F19-E916-DAE4-E7D5-9C897789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87330D-AD98-7661-4793-6E277150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15</a:t>
            </a:fld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53473-6D4B-6BF5-34C6-F7CF62508BFF}"/>
              </a:ext>
            </a:extLst>
          </p:cNvPr>
          <p:cNvSpPr txBox="1"/>
          <p:nvPr/>
        </p:nvSpPr>
        <p:spPr>
          <a:xfrm>
            <a:off x="9748795" y="2616273"/>
            <a:ext cx="1561645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Resolving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EBB6DC7-4180-9988-00C5-67B681EBDBBA}"/>
              </a:ext>
            </a:extLst>
          </p:cNvPr>
          <p:cNvCxnSpPr>
            <a:cxnSpLocks/>
          </p:cNvCxnSpPr>
          <p:nvPr/>
        </p:nvCxnSpPr>
        <p:spPr>
          <a:xfrm>
            <a:off x="10529617" y="3917144"/>
            <a:ext cx="0" cy="550127"/>
          </a:xfrm>
          <a:prstGeom prst="straightConnector1">
            <a:avLst/>
          </a:prstGeom>
          <a:ln w="57150">
            <a:solidFill>
              <a:srgbClr val="2CA02C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D58AFF5F-781F-2C61-76CA-C54CB9390FBC}"/>
              </a:ext>
            </a:extLst>
          </p:cNvPr>
          <p:cNvGrpSpPr/>
          <p:nvPr/>
        </p:nvGrpSpPr>
        <p:grpSpPr>
          <a:xfrm>
            <a:off x="483830" y="1866138"/>
            <a:ext cx="5612170" cy="3706150"/>
            <a:chOff x="2367738" y="1709498"/>
            <a:chExt cx="6628388" cy="437723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00B1118-1FF8-F1F8-4D65-347DA7016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67738" y="1709498"/>
              <a:ext cx="6628388" cy="4377236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7C24B88E-26E9-CF0D-6256-FB34B7D9A4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9813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D6BAB68-643E-BC05-ADDE-4720BD3B78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779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 descr="텍스트, 도표, 라인, 그래프이(가) 표시된 사진&#10;&#10;자동 생성된 설명">
              <a:extLst>
                <a:ext uri="{FF2B5EF4-FFF2-40B4-BE49-F238E27FC236}">
                  <a16:creationId xmlns:a16="http://schemas.microsoft.com/office/drawing/2014/main" id="{28C9B6A9-10F4-3C5F-39FF-A69628450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905" y="3512724"/>
              <a:ext cx="2082800" cy="2235200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62630DA-059C-4C17-4120-CBB42CCE3A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6535" y="3997621"/>
              <a:ext cx="547201" cy="505156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0DFC0CB-EA70-96BA-BDBA-4EAB9F20B9B6}"/>
              </a:ext>
            </a:extLst>
          </p:cNvPr>
          <p:cNvCxnSpPr>
            <a:cxnSpLocks/>
          </p:cNvCxnSpPr>
          <p:nvPr/>
        </p:nvCxnSpPr>
        <p:spPr>
          <a:xfrm flipH="1">
            <a:off x="4783936" y="4674891"/>
            <a:ext cx="1820173" cy="0"/>
          </a:xfrm>
          <a:prstGeom prst="straightConnector1">
            <a:avLst/>
          </a:prstGeom>
          <a:ln w="57150">
            <a:solidFill>
              <a:srgbClr val="FF7F0E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76E9EE7D-5C12-56CC-6D33-F94A8A7222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55" r="47310" b="11355"/>
          <a:stretch/>
        </p:blipFill>
        <p:spPr>
          <a:xfrm>
            <a:off x="6307028" y="1839558"/>
            <a:ext cx="3323983" cy="19700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0216AC-77AB-88ED-9981-07FDFC252C2C}"/>
              </a:ext>
            </a:extLst>
          </p:cNvPr>
          <p:cNvSpPr txBox="1"/>
          <p:nvPr/>
        </p:nvSpPr>
        <p:spPr>
          <a:xfrm>
            <a:off x="8327410" y="450282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line-for-categorical</a:t>
            </a:r>
            <a:endParaRPr kumimoji="1"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97BDA0-187D-ED16-08EB-D219B76EEDAE}"/>
              </a:ext>
            </a:extLst>
          </p:cNvPr>
          <p:cNvSpPr txBox="1"/>
          <p:nvPr/>
        </p:nvSpPr>
        <p:spPr>
          <a:xfrm>
            <a:off x="6673251" y="4016826"/>
            <a:ext cx="1582484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19C39-AAFF-CC98-F56E-E2B0CD84A6DA}"/>
              </a:ext>
            </a:extLst>
          </p:cNvPr>
          <p:cNvSpPr txBox="1"/>
          <p:nvPr/>
        </p:nvSpPr>
        <p:spPr>
          <a:xfrm>
            <a:off x="352309" y="1275881"/>
            <a:ext cx="1698158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171243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BA95-A0CA-3C2E-765A-4316BDCB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A47CA-56CA-553B-6E29-4431290F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98B47F-3B11-04AE-CC6C-EF1FE924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BBE58D-BC3A-CA81-B455-26A4A7A7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16</a:t>
            </a:fld>
            <a:endParaRPr kumimoji="1"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0A823BA-C9A8-5BA9-353C-8EF6CA6354B6}"/>
              </a:ext>
            </a:extLst>
          </p:cNvPr>
          <p:cNvCxnSpPr>
            <a:cxnSpLocks/>
          </p:cNvCxnSpPr>
          <p:nvPr/>
        </p:nvCxnSpPr>
        <p:spPr>
          <a:xfrm>
            <a:off x="6500191" y="3290050"/>
            <a:ext cx="3073714" cy="0"/>
          </a:xfrm>
          <a:prstGeom prst="straightConnector1">
            <a:avLst/>
          </a:prstGeom>
          <a:ln w="57150">
            <a:solidFill>
              <a:srgbClr val="2CA02C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174F928-C818-04A1-967C-B8ECEAC7C036}"/>
              </a:ext>
            </a:extLst>
          </p:cNvPr>
          <p:cNvSpPr txBox="1"/>
          <p:nvPr/>
        </p:nvSpPr>
        <p:spPr>
          <a:xfrm>
            <a:off x="8327410" y="450282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line-for-categorical</a:t>
            </a:r>
            <a:endParaRPr kumimoji="1"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C49881-49FF-F094-FC52-B2E35AE16F0C}"/>
              </a:ext>
            </a:extLst>
          </p:cNvPr>
          <p:cNvGrpSpPr/>
          <p:nvPr/>
        </p:nvGrpSpPr>
        <p:grpSpPr>
          <a:xfrm>
            <a:off x="483830" y="1866138"/>
            <a:ext cx="5612170" cy="3706150"/>
            <a:chOff x="2367738" y="1709498"/>
            <a:chExt cx="6628388" cy="437723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7581960-172B-268D-D0EE-D91608DB7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67738" y="1709498"/>
              <a:ext cx="6628388" cy="4377236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57F44F9-1FF0-8CFE-8543-848FA9350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9813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9888033D-376B-59A4-0133-3CD207E048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779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 descr="텍스트, 도표, 라인, 그래프이(가) 표시된 사진&#10;&#10;자동 생성된 설명">
              <a:extLst>
                <a:ext uri="{FF2B5EF4-FFF2-40B4-BE49-F238E27FC236}">
                  <a16:creationId xmlns:a16="http://schemas.microsoft.com/office/drawing/2014/main" id="{730809C7-E6C3-E3EF-2723-746A05A08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905" y="3512724"/>
              <a:ext cx="2082800" cy="2235200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A442AFE-0DF7-2D3B-E33C-37A3457E22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6535" y="3997621"/>
              <a:ext cx="547201" cy="505156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8102F30-BAB5-2EF2-7218-20E63261DB7A}"/>
              </a:ext>
            </a:extLst>
          </p:cNvPr>
          <p:cNvSpPr txBox="1"/>
          <p:nvPr/>
        </p:nvSpPr>
        <p:spPr>
          <a:xfrm>
            <a:off x="6673251" y="4016826"/>
            <a:ext cx="1582484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40D4F70-8A94-BD92-9FD0-0CBECFB11CD9}"/>
              </a:ext>
            </a:extLst>
          </p:cNvPr>
          <p:cNvCxnSpPr>
            <a:cxnSpLocks/>
          </p:cNvCxnSpPr>
          <p:nvPr/>
        </p:nvCxnSpPr>
        <p:spPr>
          <a:xfrm flipH="1">
            <a:off x="4783936" y="4674891"/>
            <a:ext cx="1820173" cy="0"/>
          </a:xfrm>
          <a:prstGeom prst="straightConnector1">
            <a:avLst/>
          </a:prstGeom>
          <a:ln w="57150">
            <a:solidFill>
              <a:srgbClr val="FF7F0E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E306A6DF-2D99-59FB-8C46-1C0EDFF86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53" y="2282860"/>
            <a:ext cx="1709684" cy="81573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3C27202-9FA5-1CE2-32A2-B9D671CEA4A3}"/>
              </a:ext>
            </a:extLst>
          </p:cNvPr>
          <p:cNvSpPr txBox="1"/>
          <p:nvPr/>
        </p:nvSpPr>
        <p:spPr>
          <a:xfrm>
            <a:off x="352309" y="1275881"/>
            <a:ext cx="1698158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3183F6-DC40-C14B-D3E2-686208B0AAE6}"/>
              </a:ext>
            </a:extLst>
          </p:cNvPr>
          <p:cNvSpPr txBox="1"/>
          <p:nvPr/>
        </p:nvSpPr>
        <p:spPr>
          <a:xfrm>
            <a:off x="9748795" y="2616273"/>
            <a:ext cx="1561645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Resolving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65A90B9-A8BC-81CA-44B7-74897B32DB09}"/>
              </a:ext>
            </a:extLst>
          </p:cNvPr>
          <p:cNvCxnSpPr>
            <a:cxnSpLocks/>
          </p:cNvCxnSpPr>
          <p:nvPr/>
        </p:nvCxnSpPr>
        <p:spPr>
          <a:xfrm>
            <a:off x="10529617" y="3917144"/>
            <a:ext cx="0" cy="550127"/>
          </a:xfrm>
          <a:prstGeom prst="straightConnector1">
            <a:avLst/>
          </a:prstGeom>
          <a:ln w="57150">
            <a:solidFill>
              <a:srgbClr val="2CA02C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9921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57A8-05D3-0CF0-4198-219AF433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CB825-AD3F-D72F-24CC-B41543B2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Three-Phased Visualization Authoring</a:t>
            </a:r>
            <a:endParaRPr kumimoji="1" lang="ko-KR" altLang="en-US" sz="4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977D1E-4255-2953-2A7C-A5270D60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BBCC4F-E0F1-71BB-3E65-1B30C65B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17</a:t>
            </a:fld>
            <a:endParaRPr kumimoji="1"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A9698A5-49B6-542A-6A01-BAC0A3066688}"/>
              </a:ext>
            </a:extLst>
          </p:cNvPr>
          <p:cNvCxnSpPr>
            <a:cxnSpLocks/>
          </p:cNvCxnSpPr>
          <p:nvPr/>
        </p:nvCxnSpPr>
        <p:spPr>
          <a:xfrm>
            <a:off x="6500191" y="3290050"/>
            <a:ext cx="3073714" cy="0"/>
          </a:xfrm>
          <a:prstGeom prst="straightConnector1">
            <a:avLst/>
          </a:prstGeom>
          <a:ln w="57150">
            <a:solidFill>
              <a:srgbClr val="2CA02C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6381BD-71D0-C031-C678-D13A95E22BF3}"/>
              </a:ext>
            </a:extLst>
          </p:cNvPr>
          <p:cNvSpPr txBox="1"/>
          <p:nvPr/>
        </p:nvSpPr>
        <p:spPr>
          <a:xfrm>
            <a:off x="8327410" y="450282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line-for-categorical</a:t>
            </a:r>
            <a:endParaRPr kumimoji="1"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B383428-56FB-027D-81C5-2D4001B78DAD}"/>
              </a:ext>
            </a:extLst>
          </p:cNvPr>
          <p:cNvGrpSpPr/>
          <p:nvPr/>
        </p:nvGrpSpPr>
        <p:grpSpPr>
          <a:xfrm>
            <a:off x="483830" y="1866138"/>
            <a:ext cx="5612170" cy="3706150"/>
            <a:chOff x="2367738" y="1709498"/>
            <a:chExt cx="6628388" cy="4377236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EDC222F-52A2-C71A-1BD4-2C8062F48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367738" y="1709498"/>
              <a:ext cx="6628388" cy="4377236"/>
            </a:xfrm>
            <a:prstGeom prst="rect">
              <a:avLst/>
            </a:prstGeom>
          </p:spPr>
        </p:pic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166E3CC3-5398-622F-7EF5-0B2281D5AF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9813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476F338-2002-3B5D-2782-8279BB6191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4779" y="2201677"/>
              <a:ext cx="665923" cy="347869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그림 12" descr="텍스트, 도표, 라인, 그래프이(가) 표시된 사진&#10;&#10;자동 생성된 설명">
              <a:extLst>
                <a:ext uri="{FF2B5EF4-FFF2-40B4-BE49-F238E27FC236}">
                  <a16:creationId xmlns:a16="http://schemas.microsoft.com/office/drawing/2014/main" id="{786679B5-8EB7-8131-5A50-304B99902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905" y="3512724"/>
              <a:ext cx="2082800" cy="2235200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3F97C5B2-E96D-C76D-79A7-516044BC64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6535" y="3997621"/>
              <a:ext cx="547201" cy="505156"/>
            </a:xfrm>
            <a:prstGeom prst="straightConnector1">
              <a:avLst/>
            </a:prstGeom>
            <a:ln w="57150">
              <a:solidFill>
                <a:srgbClr val="1E76B4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4F2EC79-7627-4868-E017-1E28688CF56C}"/>
              </a:ext>
            </a:extLst>
          </p:cNvPr>
          <p:cNvSpPr txBox="1"/>
          <p:nvPr/>
        </p:nvSpPr>
        <p:spPr>
          <a:xfrm>
            <a:off x="6673251" y="4016826"/>
            <a:ext cx="1582484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8DE06AD6-883E-76BE-AAB2-C1388EB96151}"/>
              </a:ext>
            </a:extLst>
          </p:cNvPr>
          <p:cNvCxnSpPr>
            <a:cxnSpLocks/>
          </p:cNvCxnSpPr>
          <p:nvPr/>
        </p:nvCxnSpPr>
        <p:spPr>
          <a:xfrm flipH="1">
            <a:off x="4783936" y="4674891"/>
            <a:ext cx="1820173" cy="0"/>
          </a:xfrm>
          <a:prstGeom prst="straightConnector1">
            <a:avLst/>
          </a:prstGeom>
          <a:ln w="57150">
            <a:solidFill>
              <a:srgbClr val="FF7F0E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8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8996C6DA-3B84-A285-EEC0-7B7B45A43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53" y="2282860"/>
            <a:ext cx="1709684" cy="81573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E85FA30-8453-3233-78B2-30E1206D10B4}"/>
              </a:ext>
            </a:extLst>
          </p:cNvPr>
          <p:cNvSpPr txBox="1"/>
          <p:nvPr/>
        </p:nvSpPr>
        <p:spPr>
          <a:xfrm>
            <a:off x="352309" y="1275881"/>
            <a:ext cx="1698158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3317AD-5B3E-75EB-C07E-54F3051B638C}"/>
              </a:ext>
            </a:extLst>
          </p:cNvPr>
          <p:cNvSpPr txBox="1"/>
          <p:nvPr/>
        </p:nvSpPr>
        <p:spPr>
          <a:xfrm>
            <a:off x="9748795" y="2616273"/>
            <a:ext cx="1561645" cy="11412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Resolving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2400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F3321C26-7F1E-3A4B-3006-6753A4C2CE8A}"/>
              </a:ext>
            </a:extLst>
          </p:cNvPr>
          <p:cNvCxnSpPr>
            <a:cxnSpLocks/>
          </p:cNvCxnSpPr>
          <p:nvPr/>
        </p:nvCxnSpPr>
        <p:spPr>
          <a:xfrm>
            <a:off x="10529617" y="3917144"/>
            <a:ext cx="0" cy="550127"/>
          </a:xfrm>
          <a:prstGeom prst="straightConnector1">
            <a:avLst/>
          </a:prstGeom>
          <a:ln w="57150">
            <a:solidFill>
              <a:srgbClr val="2CA02C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358821A8-0CA3-6F95-724D-1EA063F88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3205" y="3516259"/>
            <a:ext cx="1780015" cy="176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40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083CE-1130-1130-556E-B2DD69C2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Specificity-Generalization Trade-off</a:t>
            </a:r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51CE53-7009-8F39-9B5C-37A4EC8F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83D856-7815-77EF-3C39-9B4A9822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18</a:t>
            </a:fld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648C85-0D18-D69F-794A-2E9E8F7D3F67}"/>
              </a:ext>
            </a:extLst>
          </p:cNvPr>
          <p:cNvSpPr txBox="1"/>
          <p:nvPr/>
        </p:nvSpPr>
        <p:spPr>
          <a:xfrm>
            <a:off x="1941700" y="2596144"/>
            <a:ext cx="2454903" cy="1665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3600" b="1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Prompting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3600" i="1" dirty="0">
                <a:solidFill>
                  <a:srgbClr val="1E76B4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99E422-218D-8D37-2BA3-60A40088D196}"/>
              </a:ext>
            </a:extLst>
          </p:cNvPr>
          <p:cNvSpPr txBox="1"/>
          <p:nvPr/>
        </p:nvSpPr>
        <p:spPr>
          <a:xfrm>
            <a:off x="6096000" y="4490444"/>
            <a:ext cx="3853070" cy="1335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mark: "bar",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encoding: {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x: { field: "IMDB Rating", type: "quantitative" },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y: { aggregate: ”?" },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}</a:t>
            </a:r>
          </a:p>
        </p:txBody>
      </p:sp>
      <p:pic>
        <p:nvPicPr>
          <p:cNvPr id="14" name="그림 13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4A442BF6-D228-033D-7D8E-52EFF7560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35" y="1630956"/>
            <a:ext cx="3454400" cy="736600"/>
          </a:xfrm>
          <a:prstGeom prst="rect">
            <a:avLst/>
          </a:prstGeom>
        </p:spPr>
      </p:pic>
      <p:pic>
        <p:nvPicPr>
          <p:cNvPr id="16" name="그림 15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D6AA62F2-DF58-E0E6-A3D2-167C8D889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335" y="2908300"/>
            <a:ext cx="3454400" cy="1041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EC60AA2-FBB8-B497-32FA-2DE6B3BC59E7}"/>
              </a:ext>
            </a:extLst>
          </p:cNvPr>
          <p:cNvSpPr txBox="1"/>
          <p:nvPr/>
        </p:nvSpPr>
        <p:spPr>
          <a:xfrm>
            <a:off x="10565296" y="1721225"/>
            <a:ext cx="97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01E02E-2DFA-7F91-9A0C-35B91C8F094E}"/>
              </a:ext>
            </a:extLst>
          </p:cNvPr>
          <p:cNvSpPr txBox="1"/>
          <p:nvPr/>
        </p:nvSpPr>
        <p:spPr>
          <a:xfrm>
            <a:off x="10565296" y="5180056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32DABD0-4338-80E8-D6B8-201EFEB567CB}"/>
              </a:ext>
            </a:extLst>
          </p:cNvPr>
          <p:cNvCxnSpPr/>
          <p:nvPr/>
        </p:nvCxnSpPr>
        <p:spPr>
          <a:xfrm>
            <a:off x="10475843" y="1721225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7EFAF2E-368B-A6FD-3D78-55DBFFE514EB}"/>
              </a:ext>
            </a:extLst>
          </p:cNvPr>
          <p:cNvCxnSpPr>
            <a:cxnSpLocks/>
          </p:cNvCxnSpPr>
          <p:nvPr/>
        </p:nvCxnSpPr>
        <p:spPr>
          <a:xfrm>
            <a:off x="10475843" y="5180056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DDD33341-A762-FAFC-715C-3618CEB1E0D8}"/>
              </a:ext>
            </a:extLst>
          </p:cNvPr>
          <p:cNvCxnSpPr>
            <a:cxnSpLocks/>
          </p:cNvCxnSpPr>
          <p:nvPr/>
        </p:nvCxnSpPr>
        <p:spPr>
          <a:xfrm>
            <a:off x="5864087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94064BEE-3F8F-2329-8CCD-2F2552D86073}"/>
              </a:ext>
            </a:extLst>
          </p:cNvPr>
          <p:cNvCxnSpPr>
            <a:cxnSpLocks/>
          </p:cNvCxnSpPr>
          <p:nvPr/>
        </p:nvCxnSpPr>
        <p:spPr>
          <a:xfrm>
            <a:off x="5864087" y="2616022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941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E3F4-7D81-3D82-D78A-9F7741EA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228891B-3122-2E98-F755-09365C268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420578-04D4-3E6A-F571-E6F709D5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19</a:t>
            </a:fld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024BC-296A-1C74-7525-5160C61FD403}"/>
              </a:ext>
            </a:extLst>
          </p:cNvPr>
          <p:cNvSpPr txBox="1"/>
          <p:nvPr/>
        </p:nvSpPr>
        <p:spPr>
          <a:xfrm>
            <a:off x="2030059" y="2596144"/>
            <a:ext cx="2278188" cy="1665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3600" b="1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Detecting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3600" i="1" dirty="0">
                <a:solidFill>
                  <a:srgbClr val="FF7F0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F5307-5424-A9C1-86C4-26698B782012}"/>
              </a:ext>
            </a:extLst>
          </p:cNvPr>
          <p:cNvSpPr txBox="1"/>
          <p:nvPr/>
        </p:nvSpPr>
        <p:spPr>
          <a:xfrm>
            <a:off x="6295335" y="4384001"/>
            <a:ext cx="3499676" cy="1589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if (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</a:t>
            </a:r>
            <a:r>
              <a:rPr kumimoji="1" lang="en-US" altLang="ko-KR" sz="1100" b="1" dirty="0" err="1">
                <a:solidFill>
                  <a:srgbClr val="FF7F0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hasCategoricalAttributes</a:t>
            </a: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(spec, ["x", "y”]) &amp;&amp;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</a:t>
            </a:r>
            <a:r>
              <a:rPr kumimoji="1" lang="en-US" altLang="ko-KR" sz="1100" b="1" dirty="0" err="1">
                <a:solidFill>
                  <a:srgbClr val="FF7F0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isMark</a:t>
            </a: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(spec, "line")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return true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}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5ECAE92-EA61-36DD-EACE-93B307D7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Specificity-Generalization Trade-off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31301-8F39-432A-D66F-0A09DA02082C}"/>
              </a:ext>
            </a:extLst>
          </p:cNvPr>
          <p:cNvSpPr txBox="1"/>
          <p:nvPr/>
        </p:nvSpPr>
        <p:spPr>
          <a:xfrm>
            <a:off x="10565296" y="1721225"/>
            <a:ext cx="97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F51AB7-BE04-A4F3-0A0A-13695E3D5490}"/>
              </a:ext>
            </a:extLst>
          </p:cNvPr>
          <p:cNvSpPr txBox="1"/>
          <p:nvPr/>
        </p:nvSpPr>
        <p:spPr>
          <a:xfrm>
            <a:off x="10565296" y="5180056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91C9101-CD1F-9360-51CB-306FB11886DD}"/>
              </a:ext>
            </a:extLst>
          </p:cNvPr>
          <p:cNvCxnSpPr/>
          <p:nvPr/>
        </p:nvCxnSpPr>
        <p:spPr>
          <a:xfrm>
            <a:off x="10475843" y="1721225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D06C7A6-ACE4-89DF-DB55-C8D301CC4135}"/>
              </a:ext>
            </a:extLst>
          </p:cNvPr>
          <p:cNvCxnSpPr>
            <a:cxnSpLocks/>
          </p:cNvCxnSpPr>
          <p:nvPr/>
        </p:nvCxnSpPr>
        <p:spPr>
          <a:xfrm>
            <a:off x="10475843" y="5180056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6FDC6899-C97B-7B83-6ECB-F967DA62C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35" y="2910526"/>
            <a:ext cx="3505200" cy="965200"/>
          </a:xfrm>
          <a:prstGeom prst="rect">
            <a:avLst/>
          </a:prstGeom>
        </p:spPr>
      </p:pic>
      <p:pic>
        <p:nvPicPr>
          <p:cNvPr id="20" name="그림 19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AA8A80C8-3BAF-818F-1358-4A17C5B6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097" y="1700449"/>
            <a:ext cx="3505200" cy="647700"/>
          </a:xfrm>
          <a:prstGeom prst="rect">
            <a:avLst/>
          </a:prstGeom>
        </p:spPr>
      </p:pic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2418E129-ECB3-0CE9-F7DA-3C89A6CF5380}"/>
              </a:ext>
            </a:extLst>
          </p:cNvPr>
          <p:cNvCxnSpPr>
            <a:cxnSpLocks/>
          </p:cNvCxnSpPr>
          <p:nvPr/>
        </p:nvCxnSpPr>
        <p:spPr>
          <a:xfrm>
            <a:off x="5864087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8911F394-2500-610F-ED63-CCF8BDA15713}"/>
              </a:ext>
            </a:extLst>
          </p:cNvPr>
          <p:cNvCxnSpPr>
            <a:cxnSpLocks/>
          </p:cNvCxnSpPr>
          <p:nvPr/>
        </p:nvCxnSpPr>
        <p:spPr>
          <a:xfrm>
            <a:off x="5864087" y="2616022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301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C34B358C-344F-61FE-9700-5FEA9F10C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35" y="1700449"/>
            <a:ext cx="3505200" cy="965200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E588E6-ED16-2B24-6880-E42F8BD3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1A03C6-D211-8262-B057-9104EA057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20</a:t>
            </a:fld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F6B8A-1A14-6A9D-1D02-84C53A1E3069}"/>
              </a:ext>
            </a:extLst>
          </p:cNvPr>
          <p:cNvSpPr txBox="1"/>
          <p:nvPr/>
        </p:nvSpPr>
        <p:spPr>
          <a:xfrm>
            <a:off x="2043686" y="2596144"/>
            <a:ext cx="2250937" cy="1665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3600" b="1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Resolving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3600" i="1" dirty="0">
                <a:solidFill>
                  <a:srgbClr val="2CA02C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26152-15B5-DE33-3957-517871E0B47F}"/>
              </a:ext>
            </a:extLst>
          </p:cNvPr>
          <p:cNvSpPr txBox="1"/>
          <p:nvPr/>
        </p:nvSpPr>
        <p:spPr>
          <a:xfrm>
            <a:off x="6789112" y="4796694"/>
            <a:ext cx="2069797" cy="705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 dirty="0">
                <a:solidFill>
                  <a:srgbClr val="2CA02C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spec["mark"] = "line”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return spec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FC1F62E-EC93-62E6-CB78-68E47F01F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8" y="215745"/>
            <a:ext cx="11577006" cy="930584"/>
          </a:xfrm>
        </p:spPr>
        <p:txBody>
          <a:bodyPr/>
          <a:lstStyle/>
          <a:p>
            <a:r>
              <a:rPr kumimoji="1" lang="en-US" altLang="ko-KR" dirty="0"/>
              <a:t>Specificity-Generalization Trade-off</a:t>
            </a:r>
            <a:endParaRPr kumimoji="1"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FEC1BD-EBA1-3CF1-BDF2-4022977933C2}"/>
              </a:ext>
            </a:extLst>
          </p:cNvPr>
          <p:cNvSpPr txBox="1"/>
          <p:nvPr/>
        </p:nvSpPr>
        <p:spPr>
          <a:xfrm>
            <a:off x="10565296" y="1721225"/>
            <a:ext cx="97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BC4344-4BBD-5E19-394B-F9EB6D1D1E18}"/>
              </a:ext>
            </a:extLst>
          </p:cNvPr>
          <p:cNvSpPr txBox="1"/>
          <p:nvPr/>
        </p:nvSpPr>
        <p:spPr>
          <a:xfrm>
            <a:off x="10565296" y="5180056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681E056-CC78-EC6A-F43F-7C83C6F2A822}"/>
              </a:ext>
            </a:extLst>
          </p:cNvPr>
          <p:cNvCxnSpPr/>
          <p:nvPr/>
        </p:nvCxnSpPr>
        <p:spPr>
          <a:xfrm>
            <a:off x="10475843" y="1721225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7501B64-0663-3E23-5B95-1DA0DC2CF72C}"/>
              </a:ext>
            </a:extLst>
          </p:cNvPr>
          <p:cNvCxnSpPr>
            <a:cxnSpLocks/>
          </p:cNvCxnSpPr>
          <p:nvPr/>
        </p:nvCxnSpPr>
        <p:spPr>
          <a:xfrm>
            <a:off x="10475843" y="5180056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그림 34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EE404444-0672-AE71-26DA-80ED9132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335" y="3222613"/>
            <a:ext cx="3505200" cy="647700"/>
          </a:xfrm>
          <a:prstGeom prst="rect">
            <a:avLst/>
          </a:prstGeom>
        </p:spPr>
      </p:pic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F800F608-1B04-F57D-E2B8-F26F4E7E979D}"/>
              </a:ext>
            </a:extLst>
          </p:cNvPr>
          <p:cNvCxnSpPr>
            <a:cxnSpLocks/>
          </p:cNvCxnSpPr>
          <p:nvPr/>
        </p:nvCxnSpPr>
        <p:spPr>
          <a:xfrm>
            <a:off x="5864087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AF2D4DD1-77E1-9DC6-5F19-F4EB0B5380AD}"/>
              </a:ext>
            </a:extLst>
          </p:cNvPr>
          <p:cNvCxnSpPr>
            <a:cxnSpLocks/>
          </p:cNvCxnSpPr>
          <p:nvPr/>
        </p:nvCxnSpPr>
        <p:spPr>
          <a:xfrm>
            <a:off x="5864087" y="2934074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3436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EE6AA-8E0D-BBFA-7229-1C035658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3484C-5B6A-B64E-8B93-068D1BB2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21</a:t>
            </a:fld>
            <a:endParaRPr kumimoji="1" lang="ko-KR" altLang="en-US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CF36C0EA-5D97-FEBC-3448-44656B149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8" y="215745"/>
            <a:ext cx="11577006" cy="930584"/>
          </a:xfrm>
        </p:spPr>
        <p:txBody>
          <a:bodyPr/>
          <a:lstStyle/>
          <a:p>
            <a:r>
              <a:rPr kumimoji="1" lang="en-US" altLang="ko-KR" dirty="0"/>
              <a:t>Specificity-Generalization Trade-off</a:t>
            </a:r>
            <a:endParaRPr kumimoji="1" lang="ko-KR" altLang="en-US" dirty="0"/>
          </a:p>
        </p:txBody>
      </p:sp>
      <p:pic>
        <p:nvPicPr>
          <p:cNvPr id="2" name="그림 1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C36A8F46-3975-2816-5CBA-18F9D7D82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335" y="1700449"/>
            <a:ext cx="3505200" cy="96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AB35EB-26FE-BE81-34C2-DBB510AA7D21}"/>
              </a:ext>
            </a:extLst>
          </p:cNvPr>
          <p:cNvSpPr txBox="1"/>
          <p:nvPr/>
        </p:nvSpPr>
        <p:spPr>
          <a:xfrm>
            <a:off x="6789112" y="4796694"/>
            <a:ext cx="2069797" cy="705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 dirty="0">
                <a:solidFill>
                  <a:srgbClr val="2CA02C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spec["mark"] = "line”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return spec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3A77C8-AC72-0A1C-5C9F-86C3036CC693}"/>
              </a:ext>
            </a:extLst>
          </p:cNvPr>
          <p:cNvSpPr txBox="1"/>
          <p:nvPr/>
        </p:nvSpPr>
        <p:spPr>
          <a:xfrm>
            <a:off x="10565296" y="1721225"/>
            <a:ext cx="97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ED202C-B094-D7E1-6A31-EFEB41096F69}"/>
              </a:ext>
            </a:extLst>
          </p:cNvPr>
          <p:cNvSpPr txBox="1"/>
          <p:nvPr/>
        </p:nvSpPr>
        <p:spPr>
          <a:xfrm>
            <a:off x="10565296" y="5180056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03313DA-64A4-679C-8E69-D388C733DD49}"/>
              </a:ext>
            </a:extLst>
          </p:cNvPr>
          <p:cNvCxnSpPr/>
          <p:nvPr/>
        </p:nvCxnSpPr>
        <p:spPr>
          <a:xfrm>
            <a:off x="10475843" y="1721225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BA4100D-6D79-65C0-DBC5-CAD830F58248}"/>
              </a:ext>
            </a:extLst>
          </p:cNvPr>
          <p:cNvCxnSpPr>
            <a:cxnSpLocks/>
          </p:cNvCxnSpPr>
          <p:nvPr/>
        </p:nvCxnSpPr>
        <p:spPr>
          <a:xfrm>
            <a:off x="10475843" y="5180056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1D834870-C5FA-9299-B790-367D21520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335" y="3222613"/>
            <a:ext cx="3505200" cy="647700"/>
          </a:xfrm>
          <a:prstGeom prst="rect">
            <a:avLst/>
          </a:prstGeom>
        </p:spPr>
      </p:pic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DC15F205-69A9-822D-C6FC-5D2C26F32FBF}"/>
              </a:ext>
            </a:extLst>
          </p:cNvPr>
          <p:cNvCxnSpPr>
            <a:cxnSpLocks/>
          </p:cNvCxnSpPr>
          <p:nvPr/>
        </p:nvCxnSpPr>
        <p:spPr>
          <a:xfrm>
            <a:off x="5864087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BFD0623A-CF03-C457-305C-7A78590F7FD8}"/>
              </a:ext>
            </a:extLst>
          </p:cNvPr>
          <p:cNvCxnSpPr>
            <a:cxnSpLocks/>
          </p:cNvCxnSpPr>
          <p:nvPr/>
        </p:nvCxnSpPr>
        <p:spPr>
          <a:xfrm>
            <a:off x="5864087" y="2934074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A3F25B-FEAD-A562-1140-2F22A4373B38}"/>
              </a:ext>
            </a:extLst>
          </p:cNvPr>
          <p:cNvSpPr txBox="1"/>
          <p:nvPr/>
        </p:nvSpPr>
        <p:spPr>
          <a:xfrm>
            <a:off x="1080986" y="4384001"/>
            <a:ext cx="3499676" cy="1589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if (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</a:t>
            </a:r>
            <a:r>
              <a:rPr kumimoji="1" lang="en-US" altLang="ko-KR" sz="1100" b="1" dirty="0" err="1">
                <a:solidFill>
                  <a:srgbClr val="FF7F0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hasCategoricalAttributes</a:t>
            </a: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(spec, ["x", "y”]) &amp;&amp;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</a:t>
            </a:r>
            <a:r>
              <a:rPr kumimoji="1" lang="en-US" altLang="ko-KR" sz="1100" b="1" dirty="0" err="1">
                <a:solidFill>
                  <a:srgbClr val="FF7F0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isMark</a:t>
            </a: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(spec, "line")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return true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}</a:t>
            </a:r>
          </a:p>
        </p:txBody>
      </p:sp>
      <p:pic>
        <p:nvPicPr>
          <p:cNvPr id="25" name="그림 24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C8CA2770-96BB-3AEE-66C9-405B0EE9D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986" y="3037400"/>
            <a:ext cx="3505200" cy="965200"/>
          </a:xfrm>
          <a:prstGeom prst="rect">
            <a:avLst/>
          </a:prstGeom>
        </p:spPr>
      </p:pic>
      <p:pic>
        <p:nvPicPr>
          <p:cNvPr id="26" name="그림 25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D47FF6D5-8B19-42D8-4F9D-FD58681BE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748" y="1863078"/>
            <a:ext cx="3505200" cy="647700"/>
          </a:xfrm>
          <a:prstGeom prst="rect">
            <a:avLst/>
          </a:prstGeom>
        </p:spPr>
      </p:pic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662B2250-2359-E0F7-C963-8160A35146DC}"/>
              </a:ext>
            </a:extLst>
          </p:cNvPr>
          <p:cNvCxnSpPr>
            <a:cxnSpLocks/>
          </p:cNvCxnSpPr>
          <p:nvPr/>
        </p:nvCxnSpPr>
        <p:spPr>
          <a:xfrm>
            <a:off x="649738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998E4205-9E4C-6099-E8B9-2498FCE7DD27}"/>
              </a:ext>
            </a:extLst>
          </p:cNvPr>
          <p:cNvCxnSpPr>
            <a:cxnSpLocks/>
          </p:cNvCxnSpPr>
          <p:nvPr/>
        </p:nvCxnSpPr>
        <p:spPr>
          <a:xfrm>
            <a:off x="649738" y="2934074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1037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080D-7482-80A6-0CFF-25EBA08D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EE7F4-E4B5-F150-9A05-274A313E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DD08B9-AE9D-DDEC-D3F0-3062BCDAB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22</a:t>
            </a:fld>
            <a:endParaRPr kumimoji="1" lang="ko-KR" altLang="en-US"/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44B030F7-64A1-0D9F-9724-A0050A55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498" y="215745"/>
            <a:ext cx="11577006" cy="930584"/>
          </a:xfrm>
        </p:spPr>
        <p:txBody>
          <a:bodyPr/>
          <a:lstStyle/>
          <a:p>
            <a:r>
              <a:rPr kumimoji="1" lang="en-US" altLang="ko-KR" dirty="0"/>
              <a:t>Specificity-Generalization Trade-off</a:t>
            </a:r>
            <a:endParaRPr kumimoji="1" lang="ko-KR" altLang="en-US" dirty="0"/>
          </a:p>
        </p:txBody>
      </p:sp>
      <p:pic>
        <p:nvPicPr>
          <p:cNvPr id="2" name="그림 1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ABEDBF4E-7904-5EFB-E9AD-10DECD542AA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295335" y="1700449"/>
            <a:ext cx="3505200" cy="965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FB9475-74F4-6200-9303-681E946FF091}"/>
              </a:ext>
            </a:extLst>
          </p:cNvPr>
          <p:cNvSpPr txBox="1"/>
          <p:nvPr/>
        </p:nvSpPr>
        <p:spPr>
          <a:xfrm>
            <a:off x="6789112" y="4796694"/>
            <a:ext cx="2069797" cy="705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 dirty="0">
                <a:solidFill>
                  <a:srgbClr val="2CA02C">
                    <a:alpha val="24000"/>
                  </a:srgb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spec["mark"] = "line”</a:t>
            </a:r>
          </a:p>
          <a:p>
            <a:pPr>
              <a:lnSpc>
                <a:spcPct val="150000"/>
              </a:lnSpc>
            </a:pPr>
            <a:r>
              <a:rPr kumimoji="1" lang="en-US" altLang="ko-KR" sz="1400" dirty="0">
                <a:solidFill>
                  <a:schemeClr val="tx1">
                    <a:alpha val="24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return spec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4177F-D3C1-4025-1114-7719607BAF7F}"/>
              </a:ext>
            </a:extLst>
          </p:cNvPr>
          <p:cNvSpPr txBox="1"/>
          <p:nvPr/>
        </p:nvSpPr>
        <p:spPr>
          <a:xfrm>
            <a:off x="10565296" y="1721225"/>
            <a:ext cx="976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00FF6-5CE2-572C-8C54-7BED933932BB}"/>
              </a:ext>
            </a:extLst>
          </p:cNvPr>
          <p:cNvSpPr txBox="1"/>
          <p:nvPr/>
        </p:nvSpPr>
        <p:spPr>
          <a:xfrm>
            <a:off x="10565296" y="5180056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</a:t>
            </a:r>
          </a:p>
          <a:p>
            <a:r>
              <a:rPr kumimoji="1" lang="en-US" altLang="ko-KR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endParaRPr kumimoji="1" lang="ko-KR" altLang="en-US" i="1" dirty="0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BCBFAFF-4D62-597B-E2D1-26414F4AD3F2}"/>
              </a:ext>
            </a:extLst>
          </p:cNvPr>
          <p:cNvCxnSpPr/>
          <p:nvPr/>
        </p:nvCxnSpPr>
        <p:spPr>
          <a:xfrm>
            <a:off x="10475843" y="1721225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22FDB72-2FC5-0213-C430-60273F57BE1A}"/>
              </a:ext>
            </a:extLst>
          </p:cNvPr>
          <p:cNvCxnSpPr>
            <a:cxnSpLocks/>
          </p:cNvCxnSpPr>
          <p:nvPr/>
        </p:nvCxnSpPr>
        <p:spPr>
          <a:xfrm>
            <a:off x="10475843" y="5180056"/>
            <a:ext cx="0" cy="646331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폰트, 그래픽, 스크린샷이(가) 표시된 사진&#10;&#10;자동 생성된 설명">
            <a:extLst>
              <a:ext uri="{FF2B5EF4-FFF2-40B4-BE49-F238E27FC236}">
                <a16:creationId xmlns:a16="http://schemas.microsoft.com/office/drawing/2014/main" id="{4AE274A7-49A3-2939-16AC-BC5112A8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335" y="3222613"/>
            <a:ext cx="3505200" cy="647700"/>
          </a:xfrm>
          <a:prstGeom prst="rect">
            <a:avLst/>
          </a:prstGeom>
        </p:spPr>
      </p:pic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E6D51F60-BE51-AC5C-AB99-4F55D7CB2242}"/>
              </a:ext>
            </a:extLst>
          </p:cNvPr>
          <p:cNvCxnSpPr>
            <a:cxnSpLocks/>
          </p:cNvCxnSpPr>
          <p:nvPr/>
        </p:nvCxnSpPr>
        <p:spPr>
          <a:xfrm>
            <a:off x="5864087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CFE954C9-FD8A-A1F3-0E88-D113F35BFA69}"/>
              </a:ext>
            </a:extLst>
          </p:cNvPr>
          <p:cNvCxnSpPr>
            <a:cxnSpLocks/>
          </p:cNvCxnSpPr>
          <p:nvPr/>
        </p:nvCxnSpPr>
        <p:spPr>
          <a:xfrm>
            <a:off x="5864087" y="2934074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B9AF30E-C3D8-8B05-F2EB-6A36E62A7301}"/>
              </a:ext>
            </a:extLst>
          </p:cNvPr>
          <p:cNvSpPr txBox="1"/>
          <p:nvPr/>
        </p:nvSpPr>
        <p:spPr>
          <a:xfrm>
            <a:off x="1080986" y="4384001"/>
            <a:ext cx="3499676" cy="1589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if (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</a:t>
            </a:r>
            <a:r>
              <a:rPr kumimoji="1" lang="en-US" altLang="ko-KR" sz="1100" b="1" dirty="0" err="1">
                <a:solidFill>
                  <a:srgbClr val="FF7F0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hasCategoricalAttributes</a:t>
            </a: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(spec, ["x", "y”]) &amp;&amp;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</a:t>
            </a:r>
            <a:r>
              <a:rPr kumimoji="1" lang="en-US" altLang="ko-KR" sz="1100" b="1" dirty="0" err="1">
                <a:solidFill>
                  <a:srgbClr val="FF7F0E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isMark</a:t>
            </a: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(spec, "line")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  return true</a:t>
            </a: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  <a:cs typeface="Open Sans" panose="020B0606030504020204" pitchFamily="34" charset="0"/>
              </a:rPr>
              <a:t>}</a:t>
            </a:r>
          </a:p>
        </p:txBody>
      </p:sp>
      <p:pic>
        <p:nvPicPr>
          <p:cNvPr id="27" name="그림 26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E1AB69A6-E2FC-9566-800A-218A3E91D65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080986" y="3037400"/>
            <a:ext cx="3505200" cy="965200"/>
          </a:xfrm>
          <a:prstGeom prst="rect">
            <a:avLst/>
          </a:prstGeom>
        </p:spPr>
      </p:pic>
      <p:pic>
        <p:nvPicPr>
          <p:cNvPr id="28" name="그림 27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6CCDF4E2-1061-E2BB-7A88-3DCC4B3AA13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83748" y="1863078"/>
            <a:ext cx="3505200" cy="647700"/>
          </a:xfrm>
          <a:prstGeom prst="rect">
            <a:avLst/>
          </a:prstGeom>
        </p:spPr>
      </p:pic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E2E38314-BA1D-19BD-595C-0149407F33D1}"/>
              </a:ext>
            </a:extLst>
          </p:cNvPr>
          <p:cNvCxnSpPr>
            <a:cxnSpLocks/>
          </p:cNvCxnSpPr>
          <p:nvPr/>
        </p:nvCxnSpPr>
        <p:spPr>
          <a:xfrm>
            <a:off x="649738" y="4275857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7031DEDE-2B96-2F39-A853-CBEB50E2A85A}"/>
              </a:ext>
            </a:extLst>
          </p:cNvPr>
          <p:cNvCxnSpPr>
            <a:cxnSpLocks/>
          </p:cNvCxnSpPr>
          <p:nvPr/>
        </p:nvCxnSpPr>
        <p:spPr>
          <a:xfrm>
            <a:off x="649738" y="2934074"/>
            <a:ext cx="5647302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830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B149C9-4093-936D-77FE-C6F50102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DD17251-62B7-1F24-9EC0-C795BABE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23</a:t>
            </a:fld>
            <a:endParaRPr kumimoji="1"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3CBD32-E81B-E84B-BCFC-A479CADC85D5}"/>
              </a:ext>
            </a:extLst>
          </p:cNvPr>
          <p:cNvGrpSpPr/>
          <p:nvPr/>
        </p:nvGrpSpPr>
        <p:grpSpPr>
          <a:xfrm>
            <a:off x="69429" y="710773"/>
            <a:ext cx="11815044" cy="5367527"/>
            <a:chOff x="69429" y="710773"/>
            <a:chExt cx="11815044" cy="5367527"/>
          </a:xfrm>
        </p:grpSpPr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7786D93B-3457-22DE-B68B-009CAF016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6417" y="2866077"/>
              <a:ext cx="0" cy="1249485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222D49D8-F4E4-DABB-A60C-79174CC2D248}"/>
                </a:ext>
              </a:extLst>
            </p:cNvPr>
            <p:cNvSpPr/>
            <p:nvPr/>
          </p:nvSpPr>
          <p:spPr>
            <a:xfrm>
              <a:off x="2348199" y="710773"/>
              <a:ext cx="5260190" cy="4992915"/>
            </a:xfrm>
            <a:prstGeom prst="roundRect">
              <a:avLst>
                <a:gd name="adj" fmla="val 8818"/>
              </a:avLst>
            </a:prstGeom>
            <a:noFill/>
            <a:ln w="76200">
              <a:solidFill>
                <a:srgbClr val="004B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DDAAA1D-7368-5C97-7E4A-F2F3BE755FF4}"/>
                </a:ext>
              </a:extLst>
            </p:cNvPr>
            <p:cNvSpPr/>
            <p:nvPr/>
          </p:nvSpPr>
          <p:spPr>
            <a:xfrm>
              <a:off x="7384736" y="3675835"/>
              <a:ext cx="449747" cy="830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A4E09F3-0656-F7AF-8662-AFB1121E2E3F}"/>
                </a:ext>
              </a:extLst>
            </p:cNvPr>
            <p:cNvSpPr/>
            <p:nvPr/>
          </p:nvSpPr>
          <p:spPr>
            <a:xfrm>
              <a:off x="3196045" y="5221957"/>
              <a:ext cx="3564496" cy="8563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47792EB-57F2-1A7D-6C9D-2A357F2DE77B}"/>
                </a:ext>
              </a:extLst>
            </p:cNvPr>
            <p:cNvGrpSpPr/>
            <p:nvPr/>
          </p:nvGrpSpPr>
          <p:grpSpPr>
            <a:xfrm>
              <a:off x="8720692" y="2379916"/>
              <a:ext cx="3062312" cy="1606372"/>
              <a:chOff x="8695391" y="2457656"/>
              <a:chExt cx="2048135" cy="1074374"/>
            </a:xfrm>
          </p:grpSpPr>
          <p:pic>
            <p:nvPicPr>
              <p:cNvPr id="7" name="그래픽 6">
                <a:extLst>
                  <a:ext uri="{FF2B5EF4-FFF2-40B4-BE49-F238E27FC236}">
                    <a16:creationId xmlns:a16="http://schemas.microsoft.com/office/drawing/2014/main" id="{FB7D45C3-8CE3-1529-B0A6-C4AE4C4E5C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553354" y="3095014"/>
                <a:ext cx="1190172" cy="437016"/>
              </a:xfrm>
              <a:prstGeom prst="rect">
                <a:avLst/>
              </a:prstGeom>
            </p:spPr>
          </p:pic>
          <p:pic>
            <p:nvPicPr>
              <p:cNvPr id="8" name="그래픽 7">
                <a:extLst>
                  <a:ext uri="{FF2B5EF4-FFF2-40B4-BE49-F238E27FC236}">
                    <a16:creationId xmlns:a16="http://schemas.microsoft.com/office/drawing/2014/main" id="{247909CC-248B-3A25-022E-7179676FCF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798075" y="2457656"/>
                <a:ext cx="430293" cy="437016"/>
              </a:xfrm>
              <a:prstGeom prst="rect">
                <a:avLst/>
              </a:prstGeom>
            </p:spPr>
          </p:pic>
          <p:pic>
            <p:nvPicPr>
              <p:cNvPr id="9" name="그래픽 8">
                <a:extLst>
                  <a:ext uri="{FF2B5EF4-FFF2-40B4-BE49-F238E27FC236}">
                    <a16:creationId xmlns:a16="http://schemas.microsoft.com/office/drawing/2014/main" id="{5AEA2322-4BC1-5DE9-822E-68A250946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750774" y="2457656"/>
                <a:ext cx="482225" cy="437016"/>
              </a:xfrm>
              <a:prstGeom prst="rect">
                <a:avLst/>
              </a:prstGeom>
            </p:spPr>
          </p:pic>
          <p:pic>
            <p:nvPicPr>
              <p:cNvPr id="10" name="그래픽 9">
                <a:extLst>
                  <a:ext uri="{FF2B5EF4-FFF2-40B4-BE49-F238E27FC236}">
                    <a16:creationId xmlns:a16="http://schemas.microsoft.com/office/drawing/2014/main" id="{E9F10251-3E14-FCB9-5A78-DBBDDECAAC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695391" y="3095014"/>
                <a:ext cx="635660" cy="437016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4DB9A79-18CB-9DD4-AFB9-7132958F48EB}"/>
                </a:ext>
              </a:extLst>
            </p:cNvPr>
            <p:cNvSpPr txBox="1"/>
            <p:nvPr/>
          </p:nvSpPr>
          <p:spPr>
            <a:xfrm>
              <a:off x="3357499" y="5434512"/>
              <a:ext cx="3241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400" b="1" i="1" dirty="0" err="1">
                  <a:solidFill>
                    <a:srgbClr val="004B7D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IPython</a:t>
              </a:r>
              <a:r>
                <a:rPr kumimoji="1" lang="en-US" altLang="ko-KR" sz="2400" b="1" i="1" dirty="0">
                  <a:solidFill>
                    <a:srgbClr val="004B7D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Environment</a:t>
              </a:r>
              <a:endParaRPr kumimoji="1" lang="ko-KR" altLang="en-US" sz="2400" b="1" i="1" dirty="0">
                <a:solidFill>
                  <a:srgbClr val="004B7D"/>
                </a:solidFill>
                <a:latin typeface="Open Sans" pitchFamily="2" charset="0"/>
                <a:cs typeface="Open Sans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601DDD3-F15F-3CEA-AB3C-AE7B2F4715D4}"/>
                </a:ext>
              </a:extLst>
            </p:cNvPr>
            <p:cNvSpPr txBox="1"/>
            <p:nvPr/>
          </p:nvSpPr>
          <p:spPr>
            <a:xfrm>
              <a:off x="8287014" y="4115562"/>
              <a:ext cx="3597459" cy="11412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en-US" altLang="ko-KR" sz="2400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Local / API-provided</a:t>
              </a:r>
            </a:p>
            <a:p>
              <a:pPr algn="ctr">
                <a:lnSpc>
                  <a:spcPct val="150000"/>
                </a:lnSpc>
              </a:pPr>
              <a:r>
                <a:rPr kumimoji="1" lang="en-US" altLang="ko-KR" sz="2400" b="1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Large Language Models</a:t>
              </a:r>
              <a:endParaRPr kumimoji="1" lang="ko-KR" altLang="en-US" sz="2400" b="1" i="1" dirty="0">
                <a:latin typeface="Open Sans" pitchFamily="2" charset="0"/>
                <a:cs typeface="Open Sans" pitchFamily="2" charset="0"/>
              </a:endParaRP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12C58FF-2849-FDC7-3CBE-CC1F8EEF3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48751" y="761059"/>
              <a:ext cx="1251502" cy="125150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2C8C552-4352-EDCA-7E4B-475F2F299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18166" y="1730125"/>
              <a:ext cx="928914" cy="928914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167D98B-8027-0942-3B6F-5A921BAA1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64126" y="913618"/>
              <a:ext cx="784466" cy="784466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7A3F6B-6F84-85B6-044B-4250D2ACF3FF}"/>
                </a:ext>
              </a:extLst>
            </p:cNvPr>
            <p:cNvSpPr txBox="1"/>
            <p:nvPr/>
          </p:nvSpPr>
          <p:spPr>
            <a:xfrm>
              <a:off x="3471309" y="4253261"/>
              <a:ext cx="30139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4800" b="1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Bavisitter</a:t>
              </a:r>
              <a:endParaRPr kumimoji="1" lang="ko-KR" altLang="en-US" sz="4800" b="1" i="1" dirty="0">
                <a:latin typeface="Open Sans" pitchFamily="2" charset="0"/>
                <a:cs typeface="Open Sans" pitchFamily="2" charset="0"/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F83434FC-EA62-EBA4-BC2A-85FB0E1727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910" y="2866077"/>
              <a:ext cx="0" cy="1249485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7F2286F-9659-AF84-A656-FB51E62AC755}"/>
                </a:ext>
              </a:extLst>
            </p:cNvPr>
            <p:cNvSpPr/>
            <p:nvPr/>
          </p:nvSpPr>
          <p:spPr>
            <a:xfrm flipV="1">
              <a:off x="4082623" y="3196277"/>
              <a:ext cx="1791340" cy="5393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238AD5-BA59-A54A-E0F0-6E028EF03195}"/>
                </a:ext>
              </a:extLst>
            </p:cNvPr>
            <p:cNvSpPr txBox="1"/>
            <p:nvPr/>
          </p:nvSpPr>
          <p:spPr>
            <a:xfrm>
              <a:off x="2785229" y="3234831"/>
              <a:ext cx="43861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400" b="1" i="1" dirty="0">
                  <a:solidFill>
                    <a:schemeClr val="accent2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Process Data / Visualizations</a:t>
              </a:r>
              <a:endParaRPr kumimoji="1" lang="ko-KR" altLang="en-US" sz="2400" b="1" i="1" dirty="0">
                <a:solidFill>
                  <a:schemeClr val="accent2"/>
                </a:solidFill>
                <a:latin typeface="Open Sans" pitchFamily="2" charset="0"/>
                <a:cs typeface="Open Sans" pitchFamily="2" charset="0"/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974F8F7-9440-34A9-659E-AB53354F3F6D}"/>
                </a:ext>
              </a:extLst>
            </p:cNvPr>
            <p:cNvSpPr/>
            <p:nvPr/>
          </p:nvSpPr>
          <p:spPr>
            <a:xfrm>
              <a:off x="2017850" y="4253261"/>
              <a:ext cx="449747" cy="830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29CB2182-9806-2CE2-CD10-66E530B20BB6}"/>
                </a:ext>
              </a:extLst>
            </p:cNvPr>
            <p:cNvGrpSpPr/>
            <p:nvPr/>
          </p:nvGrpSpPr>
          <p:grpSpPr>
            <a:xfrm>
              <a:off x="6980730" y="3385552"/>
              <a:ext cx="1451180" cy="1249486"/>
              <a:chOff x="5122046" y="2892819"/>
              <a:chExt cx="2743721" cy="1553960"/>
            </a:xfrm>
          </p:grpSpPr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45185B3A-B35D-38E9-5633-02D42CE08C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22046" y="2892819"/>
                <a:ext cx="2743721" cy="1278189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B08A7C6D-E5FC-5342-1B94-E899BC77A7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22046" y="3168590"/>
                <a:ext cx="2743721" cy="1278189"/>
              </a:xfrm>
              <a:prstGeom prst="straightConnector1">
                <a:avLst/>
              </a:prstGeom>
              <a:ln w="57150">
                <a:solidFill>
                  <a:schemeClr val="accent2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527FE0-E4C7-0E1A-DDB7-890E27897D0F}"/>
                </a:ext>
              </a:extLst>
            </p:cNvPr>
            <p:cNvSpPr txBox="1"/>
            <p:nvPr/>
          </p:nvSpPr>
          <p:spPr>
            <a:xfrm>
              <a:off x="5043582" y="1246301"/>
              <a:ext cx="2575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Python Libraries from </a:t>
              </a:r>
              <a:endParaRPr kumimoji="1" lang="ko-KR" altLang="en-US" dirty="0">
                <a:latin typeface="Open Sans" pitchFamily="2" charset="0"/>
                <a:cs typeface="Open Sans" pitchFamily="2" charset="0"/>
              </a:endParaRPr>
            </a:p>
          </p:txBody>
        </p:sp>
        <p:pic>
          <p:nvPicPr>
            <p:cNvPr id="9218" name="Picture 2" descr="Welcome to IEEE VIS 2024!">
              <a:extLst>
                <a:ext uri="{FF2B5EF4-FFF2-40B4-BE49-F238E27FC236}">
                  <a16:creationId xmlns:a16="http://schemas.microsoft.com/office/drawing/2014/main" id="{30EB0E33-5E35-32D3-8A31-625F24DDF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1755" y="1670823"/>
              <a:ext cx="2295506" cy="487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B7177F50-64DE-B99A-A020-FF8189E6D915}"/>
                </a:ext>
              </a:extLst>
            </p:cNvPr>
            <p:cNvCxnSpPr/>
            <p:nvPr/>
          </p:nvCxnSpPr>
          <p:spPr>
            <a:xfrm flipH="1">
              <a:off x="2016595" y="4635038"/>
              <a:ext cx="117945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22" name="Picture 6">
              <a:extLst>
                <a:ext uri="{FF2B5EF4-FFF2-40B4-BE49-F238E27FC236}">
                  <a16:creationId xmlns:a16="http://schemas.microsoft.com/office/drawing/2014/main" id="{4912F24C-9346-A540-3C1C-332587D9B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004" y="3863984"/>
              <a:ext cx="1045028" cy="785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84A842C-FFA9-24C0-56D1-04F634791AA1}"/>
                </a:ext>
              </a:extLst>
            </p:cNvPr>
            <p:cNvSpPr txBox="1"/>
            <p:nvPr/>
          </p:nvSpPr>
          <p:spPr>
            <a:xfrm>
              <a:off x="69429" y="4754903"/>
              <a:ext cx="2060179" cy="11412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kumimoji="1" lang="en-US" altLang="ko-KR" sz="2400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Vega-Lite</a:t>
              </a:r>
            </a:p>
            <a:p>
              <a:pPr algn="ctr">
                <a:lnSpc>
                  <a:spcPct val="150000"/>
                </a:lnSpc>
              </a:pPr>
              <a:r>
                <a:rPr kumimoji="1" lang="en-US" altLang="ko-KR" sz="2400" b="1" i="1" dirty="0">
                  <a:latin typeface="Open Sans" pitchFamily="2" charset="0"/>
                  <a:ea typeface="Open Sans" pitchFamily="2" charset="0"/>
                  <a:cs typeface="Open Sans" pitchFamily="2" charset="0"/>
                </a:rPr>
                <a:t>Visualization</a:t>
              </a:r>
              <a:endParaRPr kumimoji="1" lang="ko-KR" altLang="en-US" sz="2400" b="1" i="1" dirty="0">
                <a:latin typeface="Open Sans" pitchFamily="2" charset="0"/>
                <a:cs typeface="Open Sans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DD3A24C-581F-DE69-56BB-7EF38FCCEE9D}"/>
                </a:ext>
              </a:extLst>
            </p:cNvPr>
            <p:cNvSpPr txBox="1"/>
            <p:nvPr/>
          </p:nvSpPr>
          <p:spPr>
            <a:xfrm>
              <a:off x="1007153" y="2065491"/>
              <a:ext cx="184730" cy="587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endParaRPr kumimoji="1" lang="ko-KR" altLang="en-US" sz="2400" b="1" i="1" dirty="0">
                <a:latin typeface="Open Sans" pitchFamily="2" charset="0"/>
                <a:cs typeface="Open 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7329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93AA61-FB57-864E-EF8C-50EC3868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495" y="122682"/>
            <a:ext cx="11739361" cy="243365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kumimoji="1" lang="en" altLang="ko-KR" sz="2400" dirty="0"/>
              <a:t>Identified Issues LLM make in Visualization Design</a:t>
            </a:r>
          </a:p>
          <a:p>
            <a:pPr lvl="1">
              <a:lnSpc>
                <a:spcPct val="150000"/>
              </a:lnSpc>
            </a:pPr>
            <a:r>
              <a:rPr kumimoji="1" lang="en" altLang="ko-KR" sz="2000" dirty="0"/>
              <a:t>Identified 23 common issues in LLM-generated visualizations</a:t>
            </a:r>
          </a:p>
          <a:p>
            <a:pPr>
              <a:lnSpc>
                <a:spcPct val="150000"/>
              </a:lnSpc>
            </a:pPr>
            <a:r>
              <a:rPr kumimoji="1" lang="en" altLang="ko-KR" sz="2400" dirty="0"/>
              <a:t>Designed </a:t>
            </a:r>
            <a:r>
              <a:rPr kumimoji="1" lang="en" altLang="ko-KR" sz="2400" dirty="0" err="1"/>
              <a:t>Bavisitter</a:t>
            </a:r>
            <a:endParaRPr kumimoji="1" lang="en" altLang="ko-KR" sz="2400" dirty="0"/>
          </a:p>
          <a:p>
            <a:pPr lvl="1">
              <a:lnSpc>
                <a:spcPct val="150000"/>
              </a:lnSpc>
            </a:pPr>
            <a:r>
              <a:rPr kumimoji="1" lang="en-US" altLang="ko-KR" sz="2000" dirty="0"/>
              <a:t>Designed a</a:t>
            </a:r>
            <a:r>
              <a:rPr kumimoji="1" lang="en" altLang="ko-KR" sz="2000" dirty="0"/>
              <a:t> natural language interface that detects design issues and resolves them with feedback prompt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C698AA-E787-940C-1EA7-BD9C66FF0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85B68C-589A-09FC-EBBC-204B2EAA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24</a:t>
            </a:fld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B01719-F798-1582-E713-4FC3A76B9460}"/>
              </a:ext>
            </a:extLst>
          </p:cNvPr>
          <p:cNvSpPr txBox="1"/>
          <p:nvPr/>
        </p:nvSpPr>
        <p:spPr>
          <a:xfrm>
            <a:off x="1503047" y="5265295"/>
            <a:ext cx="3942105" cy="1165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ore-KR" sz="2000" b="1" dirty="0" err="1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Jiwon</a:t>
            </a:r>
            <a:r>
              <a:rPr kumimoji="1" lang="en-US" altLang="ko-Kore-KR" sz="2000" b="1" dirty="0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Choi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https://</a:t>
            </a:r>
            <a:r>
              <a:rPr kumimoji="1" lang="en-US" altLang="ko-Kore-K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jiwnchoi.me</a:t>
            </a:r>
            <a:r>
              <a:rPr kumimoji="1" lang="en-US" altLang="ko-Kore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kumimoji="1" lang="en-US" altLang="ko-Kore-K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jiwnchoi@skku.edu</a:t>
            </a:r>
            <a:r>
              <a:rPr kumimoji="1" lang="en-US" altLang="ko-Kore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                            </a:t>
            </a:r>
            <a:r>
              <a:rPr kumimoji="1" lang="en-US" altLang="ko-Kore-KR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@</a:t>
            </a:r>
            <a:r>
              <a:rPr kumimoji="1" lang="en-US" altLang="ko-Kore-KR" sz="14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jiwnchoi</a:t>
            </a:r>
            <a:endParaRPr kumimoji="1" lang="ko-Kore-KR" altLang="en-US" sz="1400" i="1">
              <a:solidFill>
                <a:schemeClr val="tx1">
                  <a:lumMod val="65000"/>
                  <a:lumOff val="35000"/>
                </a:schemeClr>
              </a:solidFill>
              <a:latin typeface="Open Sans" pitchFamily="2" charset="0"/>
              <a:ea typeface="Pretendard Medium" panose="02000503000000020004" pitchFamily="2" charset="-127"/>
              <a:cs typeface="Open Sans" pitchFamily="2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FB0A5F5-9893-A7DE-3874-4BF9A81A8C1F}"/>
              </a:ext>
            </a:extLst>
          </p:cNvPr>
          <p:cNvGrpSpPr/>
          <p:nvPr/>
        </p:nvGrpSpPr>
        <p:grpSpPr>
          <a:xfrm>
            <a:off x="3395266" y="6155813"/>
            <a:ext cx="1022404" cy="240479"/>
            <a:chOff x="1091267" y="5991965"/>
            <a:chExt cx="1022404" cy="240479"/>
          </a:xfrm>
        </p:grpSpPr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3F1DCBA3-EA2C-6381-1B4D-8E5DC7141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13272" y="5991965"/>
              <a:ext cx="200399" cy="240479"/>
            </a:xfrm>
            <a:prstGeom prst="rect">
              <a:avLst/>
            </a:prstGeom>
          </p:spPr>
        </p:pic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0ED3757C-3F6D-E2CB-BFE5-F6A25597D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71876" y="5991965"/>
              <a:ext cx="200399" cy="240479"/>
            </a:xfrm>
            <a:prstGeom prst="rect">
              <a:avLst/>
            </a:prstGeom>
          </p:spPr>
        </p:pic>
        <p:pic>
          <p:nvPicPr>
            <p:cNvPr id="17" name="그래픽 16">
              <a:extLst>
                <a:ext uri="{FF2B5EF4-FFF2-40B4-BE49-F238E27FC236}">
                  <a16:creationId xmlns:a16="http://schemas.microsoft.com/office/drawing/2014/main" id="{84DC2F63-D75D-C7FE-2253-03EB2BF2F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44984" y="5991965"/>
              <a:ext cx="200399" cy="240479"/>
            </a:xfrm>
            <a:prstGeom prst="rect">
              <a:avLst/>
            </a:prstGeom>
          </p:spPr>
        </p:pic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ABDB17C6-F846-60B9-82D5-CB88B1205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1267" y="5993404"/>
              <a:ext cx="207900" cy="237600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AABA28D-A00B-92ED-E21C-7D6F4FE5858C}"/>
              </a:ext>
            </a:extLst>
          </p:cNvPr>
          <p:cNvSpPr txBox="1"/>
          <p:nvPr/>
        </p:nvSpPr>
        <p:spPr>
          <a:xfrm>
            <a:off x="5733834" y="5258102"/>
            <a:ext cx="4580100" cy="11658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kumimoji="1" lang="en-US" altLang="ko-Kore-KR" sz="2000" b="1" dirty="0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Find Bavisitter in GitHub and </a:t>
            </a:r>
            <a:r>
              <a:rPr kumimoji="1" lang="en-US" altLang="ko-Kore-KR" sz="2000" b="1" dirty="0" err="1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PyPI</a:t>
            </a:r>
            <a:r>
              <a:rPr kumimoji="1" lang="en-US" altLang="ko-Kore-KR" sz="2000" b="1" dirty="0">
                <a:solidFill>
                  <a:srgbClr val="004B7D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!</a:t>
            </a:r>
          </a:p>
          <a:p>
            <a:pPr algn="r">
              <a:lnSpc>
                <a:spcPct val="150000"/>
              </a:lnSpc>
            </a:pPr>
            <a:r>
              <a:rPr kumimoji="1" lang="en-US" altLang="ko-Kore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https://</a:t>
            </a:r>
            <a:r>
              <a:rPr kumimoji="1" lang="en-US" altLang="ko-Kore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github.com</a:t>
            </a:r>
            <a:r>
              <a:rPr kumimoji="1" lang="en-US" altLang="ko-Kore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/</a:t>
            </a:r>
            <a:r>
              <a:rPr kumimoji="1" lang="en-US" altLang="ko-Kore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jiwnchoi</a:t>
            </a:r>
            <a:r>
              <a:rPr kumimoji="1" lang="en-US" altLang="ko-Kore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/Bavisitter</a:t>
            </a:r>
          </a:p>
          <a:p>
            <a:pPr algn="r">
              <a:lnSpc>
                <a:spcPct val="150000"/>
              </a:lnSpc>
            </a:pPr>
            <a:r>
              <a:rPr kumimoji="1" lang="en-US" altLang="ko-Kore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itchFamily="2" charset="0"/>
              </a:rPr>
              <a:t>pip install </a:t>
            </a:r>
            <a:r>
              <a:rPr kumimoji="1" lang="en-US" altLang="ko-Kore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Open Sans" pitchFamily="2" charset="0"/>
              </a:rPr>
              <a:t>bavisitter</a:t>
            </a:r>
            <a:endParaRPr kumimoji="1" lang="en-US" altLang="ko-Kore-KR" sz="1400" dirty="0">
              <a:solidFill>
                <a:schemeClr val="tx1">
                  <a:lumMod val="50000"/>
                  <a:lumOff val="50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Open Sans" pitchFamily="2" charset="0"/>
            </a:endParaRPr>
          </a:p>
        </p:txBody>
      </p:sp>
      <p:pic>
        <p:nvPicPr>
          <p:cNvPr id="24" name="그림 23" descr="스크린샷, 그래픽, 디자인이(가) 표시된 사진&#10;&#10;자동 생성된 설명">
            <a:extLst>
              <a:ext uri="{FF2B5EF4-FFF2-40B4-BE49-F238E27FC236}">
                <a16:creationId xmlns:a16="http://schemas.microsoft.com/office/drawing/2014/main" id="{7D099013-2028-076D-BFF2-C773BA05D7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6363" y="5258102"/>
            <a:ext cx="1280566" cy="1280566"/>
          </a:xfrm>
          <a:prstGeom prst="rect">
            <a:avLst/>
          </a:prstGeom>
        </p:spPr>
      </p:pic>
      <p:pic>
        <p:nvPicPr>
          <p:cNvPr id="2" name="그림 1" descr="사람, 나무, 인간의 얼굴, 의류이(가) 표시된 사진&#10;&#10;자동 생성된 설명">
            <a:extLst>
              <a:ext uri="{FF2B5EF4-FFF2-40B4-BE49-F238E27FC236}">
                <a16:creationId xmlns:a16="http://schemas.microsoft.com/office/drawing/2014/main" id="{49D14C05-A39B-7C67-51FF-61CC877D5288}"/>
              </a:ext>
            </a:extLst>
          </p:cNvPr>
          <p:cNvPicPr>
            <a:picLocks/>
          </p:cNvPicPr>
          <p:nvPr/>
        </p:nvPicPr>
        <p:blipFill rotWithShape="1">
          <a:blip r:embed="rId12"/>
          <a:srcRect l="20040" t="1140" r="21955" b="37580"/>
          <a:stretch/>
        </p:blipFill>
        <p:spPr>
          <a:xfrm>
            <a:off x="307495" y="5351373"/>
            <a:ext cx="1080000" cy="1080000"/>
          </a:xfrm>
          <a:prstGeom prst="ellipse">
            <a:avLst/>
          </a:prstGeom>
        </p:spPr>
      </p:pic>
      <p:pic>
        <p:nvPicPr>
          <p:cNvPr id="6" name="그림 5" descr="텍스트, 폰트, 도표, 스크린샷이(가) 표시된 사진&#10;&#10;자동 생성된 설명">
            <a:extLst>
              <a:ext uri="{FF2B5EF4-FFF2-40B4-BE49-F238E27FC236}">
                <a16:creationId xmlns:a16="http://schemas.microsoft.com/office/drawing/2014/main" id="{9A5E6B9B-9F5B-7EA1-7E05-70537FC5AA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4194" y="2781018"/>
            <a:ext cx="7163612" cy="225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09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AF5E5E-B484-61F8-4D57-C88546EF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A4B179-020F-B025-6B59-61AEA546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25</a:t>
            </a:fld>
            <a:endParaRPr kumimoji="1"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0401A4-DB52-FC2F-71E4-FF31CF75F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29" y="82332"/>
            <a:ext cx="11524342" cy="641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04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0D14-4911-143B-3016-F29480FC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B0DE9-E18A-E1F3-86CA-09DED171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Future Work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E89F56-E43E-86D2-EF80-77BFE12BD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496" y="1319003"/>
            <a:ext cx="11577006" cy="50092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" altLang="ko-KR" dirty="0"/>
              <a:t>Conducting a User Study</a:t>
            </a:r>
          </a:p>
          <a:p>
            <a:pPr lvl="1"/>
            <a:r>
              <a:rPr lang="en" altLang="ko-KR" dirty="0"/>
              <a:t>To understand how the </a:t>
            </a:r>
            <a:r>
              <a:rPr lang="en" altLang="ko-KR" dirty="0" err="1"/>
              <a:t>Bavisitter</a:t>
            </a:r>
            <a:r>
              <a:rPr lang="en" altLang="ko-KR" dirty="0"/>
              <a:t> helps visualization authoring, especially for novices.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lang="en" altLang="ko-KR" dirty="0"/>
              <a:t>Advanced Model</a:t>
            </a:r>
          </a:p>
          <a:p>
            <a:pPr lvl="1">
              <a:lnSpc>
                <a:spcPct val="150000"/>
              </a:lnSpc>
            </a:pPr>
            <a:r>
              <a:rPr lang="en" altLang="ko-KR" dirty="0"/>
              <a:t>Develop large-scale training datasets and models to generalize heuristics.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Beyond Resolving Design Issues</a:t>
            </a:r>
          </a:p>
          <a:p>
            <a:pPr lvl="1"/>
            <a:r>
              <a:rPr lang="en" altLang="ko-KR" dirty="0"/>
              <a:t>Extend </a:t>
            </a:r>
            <a:r>
              <a:rPr lang="en" altLang="ko-KR" i="1" dirty="0"/>
              <a:t>Bavisitter</a:t>
            </a:r>
            <a:r>
              <a:rPr lang="en" altLang="ko-KR" dirty="0"/>
              <a:t> to LLM client or LLM-based framework specialized in various visualization &amp; visual analysis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57879F-2214-71F6-F0BE-59DA67FC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 b="1" i="1" dirty="0">
                <a:ea typeface="Open Sans" pitchFamily="2" charset="0"/>
              </a:rPr>
              <a:t>Bavisitter: </a:t>
            </a:r>
            <a:r>
              <a:rPr kumimoji="1" lang="en-US" altLang="ko-KR" dirty="0">
                <a:ea typeface="Open Sans" pitchFamily="2" charset="0"/>
              </a:rPr>
              <a:t>Integrating Design Guidelines into Large Language Models for Visualization Authoring</a:t>
            </a:r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A09CA8-5ABB-4CB6-F9DB-F724A922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7B594-932E-8E4B-861D-A0BF6FB3273C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2663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17342</TotalTime>
  <Words>2163</Words>
  <Application>Microsoft Macintosh PowerPoint</Application>
  <PresentationFormat>와이드스크린</PresentationFormat>
  <Paragraphs>425</Paragraphs>
  <Slides>26</Slides>
  <Notes>26</Notes>
  <HiddenSlides>0</HiddenSlides>
  <MMClips>1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맑은 고딕</vt:lpstr>
      <vt:lpstr>시스템 서체 일반체</vt:lpstr>
      <vt:lpstr>D2Coding</vt:lpstr>
      <vt:lpstr>Pretendard</vt:lpstr>
      <vt:lpstr>Arial</vt:lpstr>
      <vt:lpstr>Open Sans</vt:lpstr>
      <vt:lpstr>Rajdhani</vt:lpstr>
      <vt:lpstr>Rajdhani Medium</vt:lpstr>
      <vt:lpstr>Trebuchet MS</vt:lpstr>
      <vt:lpstr>Wingdings</vt:lpstr>
      <vt:lpstr>Office 테마</vt:lpstr>
      <vt:lpstr>Bavisitter: Integrating Design Guidelines into Large Language Models for Visualization Authoring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Three-Phased Visualization Authoring</vt:lpstr>
      <vt:lpstr>Three-Phased Visualization Authoring</vt:lpstr>
      <vt:lpstr>Three-Phased Visualization Authoring</vt:lpstr>
      <vt:lpstr>Three-Phased Visualization Authoring</vt:lpstr>
      <vt:lpstr>Three-Phased Visualization Authoring</vt:lpstr>
      <vt:lpstr>Three-Phased Visualization Authoring</vt:lpstr>
      <vt:lpstr>Three-Phased Visualization Authoring</vt:lpstr>
      <vt:lpstr>Specificity-Generalization Trade-off</vt:lpstr>
      <vt:lpstr>Specificity-Generalization Trade-off</vt:lpstr>
      <vt:lpstr>Specificity-Generalization Trade-off</vt:lpstr>
      <vt:lpstr>Specificity-Generalization Trade-off</vt:lpstr>
      <vt:lpstr>Specificity-Generalization Trade-off</vt:lpstr>
      <vt:lpstr>PowerPoint 프레젠테이션</vt:lpstr>
      <vt:lpstr>PowerPoint 프레젠테이션</vt:lpstr>
      <vt:lpstr>PowerPoint 프레젠테이션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IDCLAB : PPT 양식 시즌 2 세미나용 제목</dc:title>
  <dc:creator>최지원</dc:creator>
  <cp:lastModifiedBy>최지원</cp:lastModifiedBy>
  <cp:revision>22</cp:revision>
  <cp:lastPrinted>2024-10-02T04:30:21Z</cp:lastPrinted>
  <dcterms:created xsi:type="dcterms:W3CDTF">2023-12-18T11:19:45Z</dcterms:created>
  <dcterms:modified xsi:type="dcterms:W3CDTF">2024-10-17T18:55:34Z</dcterms:modified>
</cp:coreProperties>
</file>